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5"/>
  </p:notesMasterIdLst>
  <p:sldIdLst>
    <p:sldId id="256" r:id="rId2"/>
    <p:sldId id="257" r:id="rId3"/>
    <p:sldId id="258" r:id="rId4"/>
    <p:sldId id="259" r:id="rId5"/>
    <p:sldId id="260" r:id="rId6"/>
    <p:sldId id="261" r:id="rId7"/>
    <p:sldId id="267" r:id="rId8"/>
    <p:sldId id="263" r:id="rId9"/>
    <p:sldId id="262" r:id="rId10"/>
    <p:sldId id="268" r:id="rId11"/>
    <p:sldId id="264" r:id="rId12"/>
    <p:sldId id="269" r:id="rId13"/>
    <p:sldId id="266" r:id="rId14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1C7293"/>
    <a:srgbClr val="0E2A47"/>
    <a:srgbClr val="0C1B2A"/>
    <a:srgbClr val="4B5F75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21" d="100"/>
          <a:sy n="121" d="100"/>
        </p:scale>
        <p:origin x="224" y="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4">
  <dgm:title val=""/>
  <dgm:desc val=""/>
  <dgm:catLst>
    <dgm:cat type="accent1" pri="11400"/>
  </dgm:catLst>
  <dgm:styleLbl name="node0">
    <dgm:fillClrLst meth="cycle">
      <a:schemeClr val="accent1">
        <a:shade val="60000"/>
      </a:schemeClr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cycle">
      <a:schemeClr val="accent1">
        <a:shade val="50000"/>
      </a:schemeClr>
      <a:schemeClr val="accent1">
        <a:tint val="55000"/>
      </a:schemeClr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cycle">
      <a:schemeClr val="accent1">
        <a:shade val="50000"/>
      </a:schemeClr>
      <a:schemeClr val="accent1">
        <a:tint val="55000"/>
      </a:schemeClr>
    </dgm:fillClrLst>
    <dgm:linClrLst meth="cycle">
      <a:schemeClr val="accent1">
        <a:shade val="50000"/>
      </a:schemeClr>
      <a:schemeClr val="accent1">
        <a:tint val="55000"/>
      </a:schemeClr>
    </dgm:linClrLst>
    <dgm:effectClrLst/>
    <dgm:txLinClrLst/>
    <dgm:txFillClrLst/>
    <dgm:txEffectClrLst/>
  </dgm:styleLbl>
  <dgm:styleLbl name="lnNode1">
    <dgm:fillClrLst meth="cycle">
      <a:schemeClr val="accent1">
        <a:shade val="50000"/>
      </a:schemeClr>
      <a:schemeClr val="accent1">
        <a:tint val="55000"/>
      </a:schemeClr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cycle">
      <a:schemeClr val="accent1">
        <a:shade val="80000"/>
        <a:alpha val="50000"/>
      </a:schemeClr>
      <a:schemeClr val="accent1">
        <a:tint val="50000"/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1">
        <a:shade val="80000"/>
      </a:schemeClr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1">
        <a:tint val="99000"/>
      </a:schemeClr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1">
        <a:tint val="70000"/>
      </a:schemeClr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1">
        <a:tint val="50000"/>
      </a:schemeClr>
      <a:schemeClr val="accent1">
        <a:tint val="55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1">
        <a:tint val="55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1">
        <a:tint val="55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cycle">
      <a:schemeClr val="accent1">
        <a:shade val="90000"/>
      </a:schemeClr>
      <a:schemeClr val="accent1">
        <a:tint val="50000"/>
      </a:schemeClr>
    </dgm:fillClrLst>
    <dgm:linClrLst meth="cycle">
      <a:schemeClr val="accent1">
        <a:shade val="90000"/>
      </a:schemeClr>
      <a:schemeClr val="accent1">
        <a:tint val="50000"/>
      </a:schemeClr>
    </dgm:linClrLst>
    <dgm:effectClrLst/>
    <dgm:txLinClrLst/>
    <dgm:txFillClrLst/>
    <dgm:txEffectClrLst/>
  </dgm:styleLbl>
  <dgm:styleLbl name="fgSibTrans2D1">
    <dgm:fillClrLst meth="cycle">
      <a:schemeClr val="accent1">
        <a:shade val="90000"/>
      </a:schemeClr>
      <a:schemeClr val="accent1">
        <a:tint val="50000"/>
      </a:schemeClr>
    </dgm:fillClrLst>
    <dgm:linClrLst meth="cycle">
      <a:schemeClr val="accent1">
        <a:shade val="90000"/>
      </a:schemeClr>
      <a:schemeClr val="accent1">
        <a:tint val="50000"/>
      </a:schemeClr>
    </dgm:linClrLst>
    <dgm:effectClrLst/>
    <dgm:txLinClrLst/>
    <dgm:txFillClrLst/>
    <dgm:txEffectClrLst/>
  </dgm:styleLbl>
  <dgm:styleLbl name="bgSibTrans2D1">
    <dgm:fillClrLst meth="cycle">
      <a:schemeClr val="accent1">
        <a:shade val="90000"/>
      </a:schemeClr>
      <a:schemeClr val="accent1">
        <a:tint val="50000"/>
      </a:schemeClr>
    </dgm:fillClrLst>
    <dgm:linClrLst meth="cycle">
      <a:schemeClr val="accent1">
        <a:shade val="90000"/>
      </a:schemeClr>
      <a:schemeClr val="accent1">
        <a:tint val="50000"/>
      </a:schemeClr>
    </dgm:linClrLst>
    <dgm:effectClrLst/>
    <dgm:txLinClrLst/>
    <dgm:txFillClrLst/>
    <dgm:txEffectClrLst/>
  </dgm:styleLbl>
  <dgm:styleLbl name="sibTrans1D1">
    <dgm:fillClrLst meth="cycle">
      <a:schemeClr val="accent1">
        <a:shade val="90000"/>
      </a:schemeClr>
      <a:schemeClr val="accent1">
        <a:tint val="50000"/>
      </a:schemeClr>
    </dgm:fillClrLst>
    <dgm:linClrLst meth="cycle">
      <a:schemeClr val="accent1">
        <a:shade val="90000"/>
      </a:schemeClr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>
        <a:shade val="80000"/>
      </a:schemeClr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>
        <a:shade val="80000"/>
      </a:schemeClr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1">
        <a:tint val="90000"/>
      </a:schemeClr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1">
        <a:tint val="70000"/>
      </a:schemeClr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1">
        <a:tint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shade val="80000"/>
      </a:schemeClr>
    </dgm:linClrLst>
    <dgm:effectClrLst/>
    <dgm:txLinClrLst/>
    <dgm:txFillClrLst/>
    <dgm:txEffectClrLst/>
  </dgm:styleLbl>
  <dgm:styleLbl name="parChTrans2D2">
    <dgm:fillClrLst meth="repeat">
      <a:schemeClr val="accent1">
        <a:tint val="90000"/>
      </a:schemeClr>
    </dgm:fillClrLst>
    <dgm:linClrLst meth="repeat">
      <a:schemeClr val="accent1">
        <a:tint val="90000"/>
      </a:schemeClr>
    </dgm:linClrLst>
    <dgm:effectClrLst/>
    <dgm:txLinClrLst/>
    <dgm:txFillClrLst/>
    <dgm:txEffectClrLst/>
  </dgm:styleLbl>
  <dgm:styleLbl name="parChTrans2D3">
    <dgm:fillClrLst meth="repeat">
      <a:schemeClr val="accent1">
        <a:tint val="70000"/>
      </a:schemeClr>
    </dgm:fillClrLst>
    <dgm:linClrLst meth="repeat">
      <a:schemeClr val="accent1">
        <a:tint val="70000"/>
      </a:schemeClr>
    </dgm:linClrLst>
    <dgm:effectClrLst/>
    <dgm:txLinClrLst/>
    <dgm:txFillClrLst/>
    <dgm:txEffectClrLst/>
  </dgm:styleLbl>
  <dgm:styleLbl name="parChTrans2D4">
    <dgm:fillClrLst meth="repeat">
      <a:schemeClr val="accent1">
        <a:tint val="50000"/>
      </a:schemeClr>
    </dgm:fillClrLst>
    <dgm:linClrLst meth="repeat">
      <a:schemeClr val="accent1">
        <a:tint val="50000"/>
      </a:schemeClr>
    </dgm:linClrLst>
    <dgm:effectClrLst/>
    <dgm:txLinClrLst/>
    <dgm:txFillClrLst meth="repeat">
      <a:schemeClr val="dk1"/>
    </dgm:txFillClrLst>
    <dgm:txEffectClrLst/>
  </dgm:styleLbl>
  <dgm:styleLbl name="parChTrans1D1">
    <dgm:fillClrLst meth="repeat">
      <a:schemeClr val="accent1">
        <a:shade val="80000"/>
      </a:schemeClr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>
        <a:tint val="90000"/>
      </a:schemeClr>
    </dgm:fillClrLst>
    <dgm:linClrLst meth="repeat">
      <a:schemeClr val="accent1">
        <a:tint val="9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>
        <a:tint val="70000"/>
      </a:schemeClr>
    </dgm:fillClrLst>
    <dgm:linClrLst meth="repeat">
      <a:schemeClr val="accent1">
        <a:tint val="7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>
        <a:tint val="50000"/>
      </a:schemeClr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cycle">
      <a:schemeClr val="accent1">
        <a:shade val="50000"/>
      </a:schemeClr>
      <a:schemeClr val="accent1">
        <a:tint val="55000"/>
      </a:schemeClr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cycle">
      <a:schemeClr val="accent1">
        <a:shade val="50000"/>
      </a:schemeClr>
      <a:schemeClr val="accent1">
        <a:tint val="55000"/>
      </a:schemeClr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cycle">
      <a:schemeClr val="accent1">
        <a:shade val="50000"/>
      </a:schemeClr>
      <a:schemeClr val="accent1">
        <a:tint val="55000"/>
      </a:schemeClr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55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cycle">
      <a:schemeClr val="accent1">
        <a:shade val="50000"/>
      </a:schemeClr>
      <a:schemeClr val="accent1">
        <a:tint val="55000"/>
      </a:schemeClr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cycle">
      <a:schemeClr val="accent1">
        <a:shade val="50000"/>
      </a:schemeClr>
      <a:schemeClr val="accent1">
        <a:tint val="55000"/>
      </a:schemeClr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55000"/>
      </a:schemeClr>
    </dgm:fillClrLst>
    <dgm:linClrLst meth="repeat">
      <a:schemeClr val="accent1">
        <a:alpha val="90000"/>
        <a:tint val="55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55000"/>
      </a:schemeClr>
    </dgm:fillClrLst>
    <dgm:linClrLst meth="repeat">
      <a:schemeClr val="accent1">
        <a:alpha val="90000"/>
        <a:tint val="55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55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>
        <a:tint val="90000"/>
      </a:schemeClr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>
        <a:tint val="70000"/>
      </a:schemeClr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>
        <a:tint val="50000"/>
      </a:schemeClr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55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55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55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8F944F87-13B5-7149-BC1D-91248FD24CDE}" type="doc">
      <dgm:prSet loTypeId="urn:microsoft.com/office/officeart/2005/8/layout/vList3" loCatId="list" qsTypeId="urn:microsoft.com/office/officeart/2005/8/quickstyle/simple1" qsCatId="simple" csTypeId="urn:microsoft.com/office/officeart/2005/8/colors/accent1_4" csCatId="accent1" phldr="1"/>
      <dgm:spPr/>
      <dgm:t>
        <a:bodyPr/>
        <a:lstStyle/>
        <a:p>
          <a:endParaRPr lang="en-GB"/>
        </a:p>
      </dgm:t>
    </dgm:pt>
    <dgm:pt modelId="{813FA1ED-37C3-8544-892F-C51BE29AE459}">
      <dgm:prSet custT="1"/>
      <dgm:spPr>
        <a:solidFill>
          <a:srgbClr val="0E2A47"/>
        </a:solidFill>
      </dgm:spPr>
      <dgm:t>
        <a:bodyPr/>
        <a:lstStyle/>
        <a:p>
          <a:r>
            <a:rPr lang="en-IN" sz="1600" dirty="0"/>
            <a:t>Sorted all records by date. </a:t>
          </a:r>
        </a:p>
      </dgm:t>
    </dgm:pt>
    <dgm:pt modelId="{8EFD107B-C243-E746-88E2-CCAD723D6313}" type="parTrans" cxnId="{EB0D8CDF-DF74-2C47-B20E-F6ED4A6827B2}">
      <dgm:prSet/>
      <dgm:spPr/>
      <dgm:t>
        <a:bodyPr/>
        <a:lstStyle/>
        <a:p>
          <a:endParaRPr lang="en-GB"/>
        </a:p>
      </dgm:t>
    </dgm:pt>
    <dgm:pt modelId="{14A2B498-1E1B-F54D-87DC-7106EDE3B964}" type="sibTrans" cxnId="{EB0D8CDF-DF74-2C47-B20E-F6ED4A6827B2}">
      <dgm:prSet/>
      <dgm:spPr/>
      <dgm:t>
        <a:bodyPr/>
        <a:lstStyle/>
        <a:p>
          <a:endParaRPr lang="en-GB"/>
        </a:p>
      </dgm:t>
    </dgm:pt>
    <dgm:pt modelId="{9258B9F2-D23F-604B-AC32-BEC928482A27}">
      <dgm:prSet custT="1"/>
      <dgm:spPr>
        <a:solidFill>
          <a:srgbClr val="4B5F75"/>
        </a:solidFill>
      </dgm:spPr>
      <dgm:t>
        <a:bodyPr/>
        <a:lstStyle/>
        <a:p>
          <a:r>
            <a:rPr lang="en-IN" sz="1600"/>
            <a:t>Checked for missing daily records.</a:t>
          </a:r>
        </a:p>
      </dgm:t>
    </dgm:pt>
    <dgm:pt modelId="{A436C6C9-46D1-5949-B53A-F8465EE9F436}" type="parTrans" cxnId="{BDB34D7B-0500-2B41-B372-481249CA8A66}">
      <dgm:prSet/>
      <dgm:spPr/>
      <dgm:t>
        <a:bodyPr/>
        <a:lstStyle/>
        <a:p>
          <a:endParaRPr lang="en-GB"/>
        </a:p>
      </dgm:t>
    </dgm:pt>
    <dgm:pt modelId="{E03308F6-0E53-0445-AE4A-AAC939529334}" type="sibTrans" cxnId="{BDB34D7B-0500-2B41-B372-481249CA8A66}">
      <dgm:prSet/>
      <dgm:spPr/>
      <dgm:t>
        <a:bodyPr/>
        <a:lstStyle/>
        <a:p>
          <a:endParaRPr lang="en-GB"/>
        </a:p>
      </dgm:t>
    </dgm:pt>
    <dgm:pt modelId="{9EFB79D2-DF3E-0C49-9FEB-3C172AADD2EB}">
      <dgm:prSet custT="1"/>
      <dgm:spPr>
        <a:solidFill>
          <a:srgbClr val="0E2A47"/>
        </a:solidFill>
      </dgm:spPr>
      <dgm:t>
        <a:bodyPr/>
        <a:lstStyle/>
        <a:p>
          <a:r>
            <a:rPr lang="en-IN" sz="1600" dirty="0"/>
            <a:t>Created a continuous daily dataset.</a:t>
          </a:r>
        </a:p>
      </dgm:t>
    </dgm:pt>
    <dgm:pt modelId="{B0BBE943-F781-1B42-BEA1-E53AC10B5C6C}" type="parTrans" cxnId="{9176093F-21A0-264F-995A-D2D3473A8B74}">
      <dgm:prSet/>
      <dgm:spPr/>
      <dgm:t>
        <a:bodyPr/>
        <a:lstStyle/>
        <a:p>
          <a:endParaRPr lang="en-GB"/>
        </a:p>
      </dgm:t>
    </dgm:pt>
    <dgm:pt modelId="{115EBFCA-5D4B-2444-BBEA-79F95ABC74D6}" type="sibTrans" cxnId="{9176093F-21A0-264F-995A-D2D3473A8B74}">
      <dgm:prSet/>
      <dgm:spPr/>
      <dgm:t>
        <a:bodyPr/>
        <a:lstStyle/>
        <a:p>
          <a:endParaRPr lang="en-GB"/>
        </a:p>
      </dgm:t>
    </dgm:pt>
    <dgm:pt modelId="{852BD152-6387-B641-803E-824133A9273B}">
      <dgm:prSet custT="1"/>
      <dgm:spPr>
        <a:solidFill>
          <a:srgbClr val="4B5F75"/>
        </a:solidFill>
      </dgm:spPr>
      <dgm:t>
        <a:bodyPr/>
        <a:lstStyle/>
        <a:p>
          <a:r>
            <a:rPr lang="en-IN" sz="1600" dirty="0"/>
            <a:t>Filled weather gaps using forward/backward fill. Interpolated AQI values if gaps existed.</a:t>
          </a:r>
        </a:p>
      </dgm:t>
    </dgm:pt>
    <dgm:pt modelId="{DFE170A6-42B4-E545-9E75-C9090886856A}" type="parTrans" cxnId="{1AFDACC3-5644-5549-BEDD-E4AAB9B2490D}">
      <dgm:prSet/>
      <dgm:spPr/>
      <dgm:t>
        <a:bodyPr/>
        <a:lstStyle/>
        <a:p>
          <a:endParaRPr lang="en-GB"/>
        </a:p>
      </dgm:t>
    </dgm:pt>
    <dgm:pt modelId="{007CADE5-50E6-9442-889E-9FCD50120F36}" type="sibTrans" cxnId="{1AFDACC3-5644-5549-BEDD-E4AAB9B2490D}">
      <dgm:prSet/>
      <dgm:spPr/>
      <dgm:t>
        <a:bodyPr/>
        <a:lstStyle/>
        <a:p>
          <a:endParaRPr lang="en-GB"/>
        </a:p>
      </dgm:t>
    </dgm:pt>
    <dgm:pt modelId="{6C265FB6-4C82-6447-8FEC-AE36E4945F88}" type="pres">
      <dgm:prSet presAssocID="{8F944F87-13B5-7149-BC1D-91248FD24CDE}" presName="linearFlow" presStyleCnt="0">
        <dgm:presLayoutVars>
          <dgm:dir/>
          <dgm:resizeHandles val="exact"/>
        </dgm:presLayoutVars>
      </dgm:prSet>
      <dgm:spPr/>
    </dgm:pt>
    <dgm:pt modelId="{F01C445E-8A72-3C44-84AC-76150404F326}" type="pres">
      <dgm:prSet presAssocID="{813FA1ED-37C3-8544-892F-C51BE29AE459}" presName="composite" presStyleCnt="0"/>
      <dgm:spPr/>
    </dgm:pt>
    <dgm:pt modelId="{BA53A300-6037-734F-970C-B1351BAAC4A0}" type="pres">
      <dgm:prSet presAssocID="{813FA1ED-37C3-8544-892F-C51BE29AE459}" presName="imgShp" presStyleLbl="fgImgPlace1" presStyleIdx="0" presStyleCnt="4"/>
      <dgm:spPr>
        <a:solidFill>
          <a:schemeClr val="accent1">
            <a:lumMod val="40000"/>
            <a:lumOff val="60000"/>
          </a:schemeClr>
        </a:solidFill>
      </dgm:spPr>
    </dgm:pt>
    <dgm:pt modelId="{DBDD4144-70B7-934B-8D0C-E4DEAC5C384B}" type="pres">
      <dgm:prSet presAssocID="{813FA1ED-37C3-8544-892F-C51BE29AE459}" presName="txShp" presStyleLbl="node1" presStyleIdx="0" presStyleCnt="4">
        <dgm:presLayoutVars>
          <dgm:bulletEnabled val="1"/>
        </dgm:presLayoutVars>
      </dgm:prSet>
      <dgm:spPr/>
    </dgm:pt>
    <dgm:pt modelId="{30D0557F-4446-6C48-B294-AAA78D08A9AA}" type="pres">
      <dgm:prSet presAssocID="{14A2B498-1E1B-F54D-87DC-7106EDE3B964}" presName="spacing" presStyleCnt="0"/>
      <dgm:spPr/>
    </dgm:pt>
    <dgm:pt modelId="{4B8E8EEA-5584-1E48-B4B9-EDCFFCDE3AAA}" type="pres">
      <dgm:prSet presAssocID="{9258B9F2-D23F-604B-AC32-BEC928482A27}" presName="composite" presStyleCnt="0"/>
      <dgm:spPr/>
    </dgm:pt>
    <dgm:pt modelId="{D7DB2927-C180-DB47-9208-4E1FB460DED9}" type="pres">
      <dgm:prSet presAssocID="{9258B9F2-D23F-604B-AC32-BEC928482A27}" presName="imgShp" presStyleLbl="fgImgPlace1" presStyleIdx="1" presStyleCnt="4"/>
      <dgm:spPr>
        <a:solidFill>
          <a:schemeClr val="accent1">
            <a:lumMod val="40000"/>
            <a:lumOff val="60000"/>
          </a:schemeClr>
        </a:solidFill>
      </dgm:spPr>
    </dgm:pt>
    <dgm:pt modelId="{7FCE73E4-224B-4D4D-9281-C7F6815506F8}" type="pres">
      <dgm:prSet presAssocID="{9258B9F2-D23F-604B-AC32-BEC928482A27}" presName="txShp" presStyleLbl="node1" presStyleIdx="1" presStyleCnt="4">
        <dgm:presLayoutVars>
          <dgm:bulletEnabled val="1"/>
        </dgm:presLayoutVars>
      </dgm:prSet>
      <dgm:spPr/>
    </dgm:pt>
    <dgm:pt modelId="{267376C8-FF81-EB49-8832-D7A799ABDC6E}" type="pres">
      <dgm:prSet presAssocID="{E03308F6-0E53-0445-AE4A-AAC939529334}" presName="spacing" presStyleCnt="0"/>
      <dgm:spPr/>
    </dgm:pt>
    <dgm:pt modelId="{886450FA-7CF2-D84B-AB32-51BA281C83A6}" type="pres">
      <dgm:prSet presAssocID="{9EFB79D2-DF3E-0C49-9FEB-3C172AADD2EB}" presName="composite" presStyleCnt="0"/>
      <dgm:spPr/>
    </dgm:pt>
    <dgm:pt modelId="{9A5B1D4D-A057-4E4E-BF37-704EC7868354}" type="pres">
      <dgm:prSet presAssocID="{9EFB79D2-DF3E-0C49-9FEB-3C172AADD2EB}" presName="imgShp" presStyleLbl="fgImgPlace1" presStyleIdx="2" presStyleCnt="4"/>
      <dgm:spPr>
        <a:solidFill>
          <a:schemeClr val="accent1">
            <a:lumMod val="40000"/>
            <a:lumOff val="60000"/>
          </a:schemeClr>
        </a:solidFill>
      </dgm:spPr>
    </dgm:pt>
    <dgm:pt modelId="{61722100-BBE7-C04F-89C3-7420FB107874}" type="pres">
      <dgm:prSet presAssocID="{9EFB79D2-DF3E-0C49-9FEB-3C172AADD2EB}" presName="txShp" presStyleLbl="node1" presStyleIdx="2" presStyleCnt="4">
        <dgm:presLayoutVars>
          <dgm:bulletEnabled val="1"/>
        </dgm:presLayoutVars>
      </dgm:prSet>
      <dgm:spPr/>
    </dgm:pt>
    <dgm:pt modelId="{AF18CFE4-2D54-5642-B9A4-0666498E6ED3}" type="pres">
      <dgm:prSet presAssocID="{115EBFCA-5D4B-2444-BBEA-79F95ABC74D6}" presName="spacing" presStyleCnt="0"/>
      <dgm:spPr/>
    </dgm:pt>
    <dgm:pt modelId="{F2DDA84C-AB02-2C4D-8865-3DD4BDC6DFDA}" type="pres">
      <dgm:prSet presAssocID="{852BD152-6387-B641-803E-824133A9273B}" presName="composite" presStyleCnt="0"/>
      <dgm:spPr/>
    </dgm:pt>
    <dgm:pt modelId="{09847268-2946-1C47-BAB2-BE47353ADE0B}" type="pres">
      <dgm:prSet presAssocID="{852BD152-6387-B641-803E-824133A9273B}" presName="imgShp" presStyleLbl="fgImgPlace1" presStyleIdx="3" presStyleCnt="4"/>
      <dgm:spPr>
        <a:solidFill>
          <a:schemeClr val="accent1">
            <a:lumMod val="40000"/>
            <a:lumOff val="60000"/>
          </a:schemeClr>
        </a:solidFill>
      </dgm:spPr>
    </dgm:pt>
    <dgm:pt modelId="{817B19FA-C4F5-7C4E-AB2C-C7CC3D2FBA24}" type="pres">
      <dgm:prSet presAssocID="{852BD152-6387-B641-803E-824133A9273B}" presName="txShp" presStyleLbl="node1" presStyleIdx="3" presStyleCnt="4">
        <dgm:presLayoutVars>
          <dgm:bulletEnabled val="1"/>
        </dgm:presLayoutVars>
      </dgm:prSet>
      <dgm:spPr/>
    </dgm:pt>
  </dgm:ptLst>
  <dgm:cxnLst>
    <dgm:cxn modelId="{3E05B60D-5A1E-354D-B604-EC3F8315864D}" type="presOf" srcId="{813FA1ED-37C3-8544-892F-C51BE29AE459}" destId="{DBDD4144-70B7-934B-8D0C-E4DEAC5C384B}" srcOrd="0" destOrd="0" presId="urn:microsoft.com/office/officeart/2005/8/layout/vList3"/>
    <dgm:cxn modelId="{0CD5593E-04EE-9D40-8B88-D94CCD4F1F26}" type="presOf" srcId="{8F944F87-13B5-7149-BC1D-91248FD24CDE}" destId="{6C265FB6-4C82-6447-8FEC-AE36E4945F88}" srcOrd="0" destOrd="0" presId="urn:microsoft.com/office/officeart/2005/8/layout/vList3"/>
    <dgm:cxn modelId="{9176093F-21A0-264F-995A-D2D3473A8B74}" srcId="{8F944F87-13B5-7149-BC1D-91248FD24CDE}" destId="{9EFB79D2-DF3E-0C49-9FEB-3C172AADD2EB}" srcOrd="2" destOrd="0" parTransId="{B0BBE943-F781-1B42-BEA1-E53AC10B5C6C}" sibTransId="{115EBFCA-5D4B-2444-BBEA-79F95ABC74D6}"/>
    <dgm:cxn modelId="{BDB34D7B-0500-2B41-B372-481249CA8A66}" srcId="{8F944F87-13B5-7149-BC1D-91248FD24CDE}" destId="{9258B9F2-D23F-604B-AC32-BEC928482A27}" srcOrd="1" destOrd="0" parTransId="{A436C6C9-46D1-5949-B53A-F8465EE9F436}" sibTransId="{E03308F6-0E53-0445-AE4A-AAC939529334}"/>
    <dgm:cxn modelId="{3754B588-F05F-9F42-B51F-302A50A8C966}" type="presOf" srcId="{9EFB79D2-DF3E-0C49-9FEB-3C172AADD2EB}" destId="{61722100-BBE7-C04F-89C3-7420FB107874}" srcOrd="0" destOrd="0" presId="urn:microsoft.com/office/officeart/2005/8/layout/vList3"/>
    <dgm:cxn modelId="{F5CF7395-3B2F-D949-8FA1-E8380B0CCB99}" type="presOf" srcId="{9258B9F2-D23F-604B-AC32-BEC928482A27}" destId="{7FCE73E4-224B-4D4D-9281-C7F6815506F8}" srcOrd="0" destOrd="0" presId="urn:microsoft.com/office/officeart/2005/8/layout/vList3"/>
    <dgm:cxn modelId="{2FCE4E9B-D23D-6A40-BD6A-6E1379B1E37B}" type="presOf" srcId="{852BD152-6387-B641-803E-824133A9273B}" destId="{817B19FA-C4F5-7C4E-AB2C-C7CC3D2FBA24}" srcOrd="0" destOrd="0" presId="urn:microsoft.com/office/officeart/2005/8/layout/vList3"/>
    <dgm:cxn modelId="{1AFDACC3-5644-5549-BEDD-E4AAB9B2490D}" srcId="{8F944F87-13B5-7149-BC1D-91248FD24CDE}" destId="{852BD152-6387-B641-803E-824133A9273B}" srcOrd="3" destOrd="0" parTransId="{DFE170A6-42B4-E545-9E75-C9090886856A}" sibTransId="{007CADE5-50E6-9442-889E-9FCD50120F36}"/>
    <dgm:cxn modelId="{EB0D8CDF-DF74-2C47-B20E-F6ED4A6827B2}" srcId="{8F944F87-13B5-7149-BC1D-91248FD24CDE}" destId="{813FA1ED-37C3-8544-892F-C51BE29AE459}" srcOrd="0" destOrd="0" parTransId="{8EFD107B-C243-E746-88E2-CCAD723D6313}" sibTransId="{14A2B498-1E1B-F54D-87DC-7106EDE3B964}"/>
    <dgm:cxn modelId="{D83E6704-7873-2D41-86B7-9096C84910CC}" type="presParOf" srcId="{6C265FB6-4C82-6447-8FEC-AE36E4945F88}" destId="{F01C445E-8A72-3C44-84AC-76150404F326}" srcOrd="0" destOrd="0" presId="urn:microsoft.com/office/officeart/2005/8/layout/vList3"/>
    <dgm:cxn modelId="{5DAF77EF-917F-2741-8BE7-44EB223BF911}" type="presParOf" srcId="{F01C445E-8A72-3C44-84AC-76150404F326}" destId="{BA53A300-6037-734F-970C-B1351BAAC4A0}" srcOrd="0" destOrd="0" presId="urn:microsoft.com/office/officeart/2005/8/layout/vList3"/>
    <dgm:cxn modelId="{6242E00D-034F-B740-9C9F-6102279BB9C2}" type="presParOf" srcId="{F01C445E-8A72-3C44-84AC-76150404F326}" destId="{DBDD4144-70B7-934B-8D0C-E4DEAC5C384B}" srcOrd="1" destOrd="0" presId="urn:microsoft.com/office/officeart/2005/8/layout/vList3"/>
    <dgm:cxn modelId="{FBB4EE63-F98C-E14B-BB18-89FF4A082247}" type="presParOf" srcId="{6C265FB6-4C82-6447-8FEC-AE36E4945F88}" destId="{30D0557F-4446-6C48-B294-AAA78D08A9AA}" srcOrd="1" destOrd="0" presId="urn:microsoft.com/office/officeart/2005/8/layout/vList3"/>
    <dgm:cxn modelId="{5393F3BC-769A-8949-A5AB-CBCF69700138}" type="presParOf" srcId="{6C265FB6-4C82-6447-8FEC-AE36E4945F88}" destId="{4B8E8EEA-5584-1E48-B4B9-EDCFFCDE3AAA}" srcOrd="2" destOrd="0" presId="urn:microsoft.com/office/officeart/2005/8/layout/vList3"/>
    <dgm:cxn modelId="{85633223-B653-494B-AFC3-EAE06EE8EF63}" type="presParOf" srcId="{4B8E8EEA-5584-1E48-B4B9-EDCFFCDE3AAA}" destId="{D7DB2927-C180-DB47-9208-4E1FB460DED9}" srcOrd="0" destOrd="0" presId="urn:microsoft.com/office/officeart/2005/8/layout/vList3"/>
    <dgm:cxn modelId="{F4535BE7-7E9E-2B47-BDD1-51B18FA095DF}" type="presParOf" srcId="{4B8E8EEA-5584-1E48-B4B9-EDCFFCDE3AAA}" destId="{7FCE73E4-224B-4D4D-9281-C7F6815506F8}" srcOrd="1" destOrd="0" presId="urn:microsoft.com/office/officeart/2005/8/layout/vList3"/>
    <dgm:cxn modelId="{06A88F6D-CC06-524C-8D9A-CF1842B2698D}" type="presParOf" srcId="{6C265FB6-4C82-6447-8FEC-AE36E4945F88}" destId="{267376C8-FF81-EB49-8832-D7A799ABDC6E}" srcOrd="3" destOrd="0" presId="urn:microsoft.com/office/officeart/2005/8/layout/vList3"/>
    <dgm:cxn modelId="{428A4E18-43F8-9348-A866-9367E177C414}" type="presParOf" srcId="{6C265FB6-4C82-6447-8FEC-AE36E4945F88}" destId="{886450FA-7CF2-D84B-AB32-51BA281C83A6}" srcOrd="4" destOrd="0" presId="urn:microsoft.com/office/officeart/2005/8/layout/vList3"/>
    <dgm:cxn modelId="{2D20DB95-669F-9944-B404-52A492D6C8B3}" type="presParOf" srcId="{886450FA-7CF2-D84B-AB32-51BA281C83A6}" destId="{9A5B1D4D-A057-4E4E-BF37-704EC7868354}" srcOrd="0" destOrd="0" presId="urn:microsoft.com/office/officeart/2005/8/layout/vList3"/>
    <dgm:cxn modelId="{06290497-8A59-864F-90E3-1C8281142A44}" type="presParOf" srcId="{886450FA-7CF2-D84B-AB32-51BA281C83A6}" destId="{61722100-BBE7-C04F-89C3-7420FB107874}" srcOrd="1" destOrd="0" presId="urn:microsoft.com/office/officeart/2005/8/layout/vList3"/>
    <dgm:cxn modelId="{926D711F-4AB0-8545-BA0C-A2BC941CEFD7}" type="presParOf" srcId="{6C265FB6-4C82-6447-8FEC-AE36E4945F88}" destId="{AF18CFE4-2D54-5642-B9A4-0666498E6ED3}" srcOrd="5" destOrd="0" presId="urn:microsoft.com/office/officeart/2005/8/layout/vList3"/>
    <dgm:cxn modelId="{66F2931C-E77D-2246-A0B1-E392B9BA7542}" type="presParOf" srcId="{6C265FB6-4C82-6447-8FEC-AE36E4945F88}" destId="{F2DDA84C-AB02-2C4D-8865-3DD4BDC6DFDA}" srcOrd="6" destOrd="0" presId="urn:microsoft.com/office/officeart/2005/8/layout/vList3"/>
    <dgm:cxn modelId="{C52502A4-F707-1348-8903-C2FAC65BAEB5}" type="presParOf" srcId="{F2DDA84C-AB02-2C4D-8865-3DD4BDC6DFDA}" destId="{09847268-2946-1C47-BAB2-BE47353ADE0B}" srcOrd="0" destOrd="0" presId="urn:microsoft.com/office/officeart/2005/8/layout/vList3"/>
    <dgm:cxn modelId="{71A6D6DB-08C3-034A-8295-B923C0317244}" type="presParOf" srcId="{F2DDA84C-AB02-2C4D-8865-3DD4BDC6DFDA}" destId="{817B19FA-C4F5-7C4E-AB2C-C7CC3D2FBA24}" srcOrd="1" destOrd="0" presId="urn:microsoft.com/office/officeart/2005/8/layout/vList3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  <a:ext uri="{C62137D5-CB1D-491B-B009-E17868A290BF}">
      <dgm14:recolorImg xmlns:dgm14="http://schemas.microsoft.com/office/drawing/2010/diagram" val="1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DBDD4144-70B7-934B-8D0C-E4DEAC5C384B}">
      <dsp:nvSpPr>
        <dsp:cNvPr id="0" name=""/>
        <dsp:cNvSpPr/>
      </dsp:nvSpPr>
      <dsp:spPr>
        <a:xfrm rot="10800000">
          <a:off x="1364515" y="388"/>
          <a:ext cx="4545141" cy="878745"/>
        </a:xfrm>
        <a:prstGeom prst="homePlate">
          <a:avLst/>
        </a:prstGeom>
        <a:solidFill>
          <a:srgbClr val="0E2A47"/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87502" tIns="60960" rIns="113792" bIns="60960" numCol="1" spcCol="1270" anchor="ctr" anchorCtr="0">
          <a:noAutofit/>
        </a:bodyPr>
        <a:lstStyle/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N" sz="1600" kern="1200" dirty="0"/>
            <a:t>Sorted all records by date. </a:t>
          </a:r>
        </a:p>
      </dsp:txBody>
      <dsp:txXfrm rot="10800000">
        <a:off x="1584201" y="388"/>
        <a:ext cx="4325455" cy="878745"/>
      </dsp:txXfrm>
    </dsp:sp>
    <dsp:sp modelId="{BA53A300-6037-734F-970C-B1351BAAC4A0}">
      <dsp:nvSpPr>
        <dsp:cNvPr id="0" name=""/>
        <dsp:cNvSpPr/>
      </dsp:nvSpPr>
      <dsp:spPr>
        <a:xfrm>
          <a:off x="925142" y="388"/>
          <a:ext cx="878745" cy="878745"/>
        </a:xfrm>
        <a:prstGeom prst="ellipse">
          <a:avLst/>
        </a:prstGeom>
        <a:solidFill>
          <a:schemeClr val="accent1">
            <a:lumMod val="40000"/>
            <a:lumOff val="6000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7FCE73E4-224B-4D4D-9281-C7F6815506F8}">
      <dsp:nvSpPr>
        <dsp:cNvPr id="0" name=""/>
        <dsp:cNvSpPr/>
      </dsp:nvSpPr>
      <dsp:spPr>
        <a:xfrm rot="10800000">
          <a:off x="1364515" y="1141445"/>
          <a:ext cx="4545141" cy="878745"/>
        </a:xfrm>
        <a:prstGeom prst="homePlate">
          <a:avLst/>
        </a:prstGeom>
        <a:solidFill>
          <a:srgbClr val="4B5F75"/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87502" tIns="60960" rIns="113792" bIns="60960" numCol="1" spcCol="1270" anchor="ctr" anchorCtr="0">
          <a:noAutofit/>
        </a:bodyPr>
        <a:lstStyle/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N" sz="1600" kern="1200"/>
            <a:t>Checked for missing daily records.</a:t>
          </a:r>
        </a:p>
      </dsp:txBody>
      <dsp:txXfrm rot="10800000">
        <a:off x="1584201" y="1141445"/>
        <a:ext cx="4325455" cy="878745"/>
      </dsp:txXfrm>
    </dsp:sp>
    <dsp:sp modelId="{D7DB2927-C180-DB47-9208-4E1FB460DED9}">
      <dsp:nvSpPr>
        <dsp:cNvPr id="0" name=""/>
        <dsp:cNvSpPr/>
      </dsp:nvSpPr>
      <dsp:spPr>
        <a:xfrm>
          <a:off x="925142" y="1141445"/>
          <a:ext cx="878745" cy="878745"/>
        </a:xfrm>
        <a:prstGeom prst="ellipse">
          <a:avLst/>
        </a:prstGeom>
        <a:solidFill>
          <a:schemeClr val="accent1">
            <a:lumMod val="40000"/>
            <a:lumOff val="6000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61722100-BBE7-C04F-89C3-7420FB107874}">
      <dsp:nvSpPr>
        <dsp:cNvPr id="0" name=""/>
        <dsp:cNvSpPr/>
      </dsp:nvSpPr>
      <dsp:spPr>
        <a:xfrm rot="10800000">
          <a:off x="1364515" y="2282503"/>
          <a:ext cx="4545141" cy="878745"/>
        </a:xfrm>
        <a:prstGeom prst="homePlate">
          <a:avLst/>
        </a:prstGeom>
        <a:solidFill>
          <a:srgbClr val="0E2A47"/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87502" tIns="60960" rIns="113792" bIns="60960" numCol="1" spcCol="1270" anchor="ctr" anchorCtr="0">
          <a:noAutofit/>
        </a:bodyPr>
        <a:lstStyle/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N" sz="1600" kern="1200" dirty="0"/>
            <a:t>Created a continuous daily dataset.</a:t>
          </a:r>
        </a:p>
      </dsp:txBody>
      <dsp:txXfrm rot="10800000">
        <a:off x="1584201" y="2282503"/>
        <a:ext cx="4325455" cy="878745"/>
      </dsp:txXfrm>
    </dsp:sp>
    <dsp:sp modelId="{9A5B1D4D-A057-4E4E-BF37-704EC7868354}">
      <dsp:nvSpPr>
        <dsp:cNvPr id="0" name=""/>
        <dsp:cNvSpPr/>
      </dsp:nvSpPr>
      <dsp:spPr>
        <a:xfrm>
          <a:off x="925142" y="2282503"/>
          <a:ext cx="878745" cy="878745"/>
        </a:xfrm>
        <a:prstGeom prst="ellipse">
          <a:avLst/>
        </a:prstGeom>
        <a:solidFill>
          <a:schemeClr val="accent1">
            <a:lumMod val="40000"/>
            <a:lumOff val="6000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817B19FA-C4F5-7C4E-AB2C-C7CC3D2FBA24}">
      <dsp:nvSpPr>
        <dsp:cNvPr id="0" name=""/>
        <dsp:cNvSpPr/>
      </dsp:nvSpPr>
      <dsp:spPr>
        <a:xfrm rot="10800000">
          <a:off x="1364515" y="3423561"/>
          <a:ext cx="4545141" cy="878745"/>
        </a:xfrm>
        <a:prstGeom prst="homePlate">
          <a:avLst/>
        </a:prstGeom>
        <a:solidFill>
          <a:srgbClr val="4B5F75"/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87502" tIns="60960" rIns="113792" bIns="60960" numCol="1" spcCol="1270" anchor="ctr" anchorCtr="0">
          <a:noAutofit/>
        </a:bodyPr>
        <a:lstStyle/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N" sz="1600" kern="1200" dirty="0"/>
            <a:t>Filled weather gaps using forward/backward fill. Interpolated AQI values if gaps existed.</a:t>
          </a:r>
        </a:p>
      </dsp:txBody>
      <dsp:txXfrm rot="10800000">
        <a:off x="1584201" y="3423561"/>
        <a:ext cx="4325455" cy="878745"/>
      </dsp:txXfrm>
    </dsp:sp>
    <dsp:sp modelId="{09847268-2946-1C47-BAB2-BE47353ADE0B}">
      <dsp:nvSpPr>
        <dsp:cNvPr id="0" name=""/>
        <dsp:cNvSpPr/>
      </dsp:nvSpPr>
      <dsp:spPr>
        <a:xfrm>
          <a:off x="925142" y="3423561"/>
          <a:ext cx="878745" cy="878745"/>
        </a:xfrm>
        <a:prstGeom prst="ellipse">
          <a:avLst/>
        </a:prstGeom>
        <a:solidFill>
          <a:schemeClr val="accent1">
            <a:lumMod val="40000"/>
            <a:lumOff val="6000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vList3">
  <dgm:title val=""/>
  <dgm:desc val=""/>
  <dgm:catLst>
    <dgm:cat type="list" pri="14000"/>
    <dgm:cat type="convert" pri="3000"/>
    <dgm:cat type="picture" pri="27000"/>
    <dgm:cat type="pictureconvert" pri="27000"/>
  </dgm:catLst>
  <dgm:sampData useDef="1">
    <dgm:dataModel>
      <dgm:ptLst/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Flow">
    <dgm:varLst>
      <dgm:dir/>
      <dgm:resizeHandles val="exact"/>
    </dgm:varLst>
    <dgm:alg type="lin">
      <dgm:param type="linDir" val="fromT"/>
      <dgm:param type="vertAlign" val="mid"/>
      <dgm:param type="horzAlign" val="ctr"/>
    </dgm:alg>
    <dgm:shape xmlns:r="http://schemas.openxmlformats.org/officeDocument/2006/relationships" r:blip="">
      <dgm:adjLst/>
    </dgm:shape>
    <dgm:presOf/>
    <dgm:constrLst>
      <dgm:constr type="w" for="ch" forName="composite" refType="w"/>
      <dgm:constr type="h" for="ch" forName="composite" refType="h"/>
      <dgm:constr type="h" for="ch" forName="spacing" refType="h" refFor="ch" refForName="composite" fact="0.25"/>
      <dgm:constr type="h" for="ch" forName="spacing" refType="w" op="lte" fact="0.1"/>
      <dgm:constr type="primFontSz" for="des" ptType="node" op="equ" val="65"/>
    </dgm:constrLst>
    <dgm:ruleLst/>
    <dgm:forEach name="Name0" axis="ch" ptType="node">
      <dgm:layoutNode name="composite">
        <dgm:alg type="composite"/>
        <dgm:shape xmlns:r="http://schemas.openxmlformats.org/officeDocument/2006/relationships" r:blip="">
          <dgm:adjLst/>
        </dgm:shape>
        <dgm:presOf/>
        <dgm:choose name="Name1">
          <dgm:if name="Name2" func="var" arg="dir" op="equ" val="norm">
            <dgm:constrLst>
              <dgm:constr type="w" for="ch" forName="imgShp" refType="w" fact="0.335"/>
              <dgm:constr type="h" for="ch" forName="imgShp" refType="w" refFor="ch" refForName="imgShp" op="equ"/>
              <dgm:constr type="h" for="ch" forName="imgShp" refType="h" op="lte"/>
              <dgm:constr type="ctrY" for="ch" forName="imgShp" refType="h" fact="0.5"/>
              <dgm:constr type="l" for="ch" forName="imgShp"/>
              <dgm:constr type="w" for="ch" forName="txShp" refType="w" op="equ" fact="0.665"/>
              <dgm:constr type="h" for="ch" forName="txShp" refType="h" refFor="ch" refForName="imgShp" op="equ"/>
              <dgm:constr type="ctrY" for="ch" forName="txShp" refType="h" fact="0.5"/>
              <dgm:constr type="l" for="ch" forName="txShp" refType="w" refFor="ch" refForName="imgShp" fact="0.5"/>
              <dgm:constr type="lMarg" for="ch" forName="txShp" refType="w" refFor="ch" refForName="imgShp" fact="1.25"/>
            </dgm:constrLst>
          </dgm:if>
          <dgm:else name="Name3">
            <dgm:constrLst>
              <dgm:constr type="w" for="ch" forName="imgShp" refType="w" fact="0.335"/>
              <dgm:constr type="h" for="ch" forName="imgShp" refType="w" refFor="ch" refForName="imgShp" op="equ"/>
              <dgm:constr type="h" for="ch" forName="imgShp" refType="h" op="lte"/>
              <dgm:constr type="ctrY" for="ch" forName="imgShp" refType="h" fact="0.5"/>
              <dgm:constr type="r" for="ch" forName="imgShp" refType="w"/>
              <dgm:constr type="w" for="ch" forName="txShp" refType="w" op="equ" fact="0.665"/>
              <dgm:constr type="h" for="ch" forName="txShp" refType="h" refFor="ch" refForName="imgShp" op="equ"/>
              <dgm:constr type="ctrY" for="ch" forName="txShp" refType="h" fact="0.5"/>
              <dgm:constr type="r" for="ch" forName="txShp" refType="ctrX" refFor="ch" refForName="imgShp"/>
              <dgm:constr type="rMarg" for="ch" forName="txShp" refType="w" refFor="ch" refForName="imgShp" fact="1.25"/>
            </dgm:constrLst>
          </dgm:else>
        </dgm:choose>
        <dgm:ruleLst/>
        <dgm:layoutNode name="imgShp" styleLbl="fgImgPlace1">
          <dgm:alg type="sp"/>
          <dgm:shape xmlns:r="http://schemas.openxmlformats.org/officeDocument/2006/relationships" type="ellipse" r:blip="" blipPhldr="1">
            <dgm:adjLst/>
          </dgm:shape>
          <dgm:presOf/>
          <dgm:constrLst/>
          <dgm:ruleLst/>
        </dgm:layoutNode>
        <dgm:layoutNode name="txShp">
          <dgm:varLst>
            <dgm:bulletEnabled val="1"/>
          </dgm:varLst>
          <dgm:alg type="tx"/>
          <dgm:choose name="Name4">
            <dgm:if name="Name5" func="var" arg="dir" op="equ" val="norm">
              <dgm:shape xmlns:r="http://schemas.openxmlformats.org/officeDocument/2006/relationships" rot="180" type="homePlate" r:blip="" zOrderOff="-1">
                <dgm:adjLst/>
              </dgm:shape>
            </dgm:if>
            <dgm:else name="Name6">
              <dgm:shape xmlns:r="http://schemas.openxmlformats.org/officeDocument/2006/relationships" type="homePlate" r:blip="" zOrderOff="-1">
                <dgm:adjLst/>
              </dgm:shape>
            </dgm:else>
          </dgm:choose>
          <dgm:presOf axis="desOrSelf" ptType="node"/>
          <dgm:constrLst>
            <dgm:constr type="tMarg" refType="primFontSz" fact="0.3"/>
            <dgm:constr type="bMarg" refType="primFontSz" fact="0.3"/>
          </dgm:constrLst>
          <dgm:ruleLst>
            <dgm:rule type="primFontSz" val="5" fact="NaN" max="NaN"/>
          </dgm:ruleLst>
        </dgm:layoutNode>
      </dgm:layoutNode>
      <dgm:forEach name="Name7" axis="followSib" ptType="sibTrans" cnt="1">
        <dgm:layoutNode name="spacing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19815912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29280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01723657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6.png"/><Relationship Id="rId4" Type="http://schemas.openxmlformats.org/officeDocument/2006/relationships/image" Target="../media/image4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9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5.png"/><Relationship Id="rId3" Type="http://schemas.openxmlformats.org/officeDocument/2006/relationships/image" Target="../media/image8.png"/><Relationship Id="rId7" Type="http://schemas.openxmlformats.org/officeDocument/2006/relationships/image" Target="../media/image13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2.png"/><Relationship Id="rId5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7" Type="http://schemas.openxmlformats.org/officeDocument/2006/relationships/image" Target="../media/image14.png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1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8.png"/><Relationship Id="rId5" Type="http://schemas.openxmlformats.org/officeDocument/2006/relationships/image" Target="../media/image17.png"/><Relationship Id="rId4" Type="http://schemas.openxmlformats.org/officeDocument/2006/relationships/image" Target="../media/image16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0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2A4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>
            <a:alphaModFix amt="12000"/>
          </a:blip>
          <a:stretch>
            <a:fillRect/>
          </a:stretch>
        </p:blipFill>
        <p:spPr>
          <a:xfrm>
            <a:off x="8351215" y="-365760"/>
            <a:ext cx="4114800" cy="4114800"/>
          </a:xfrm>
          <a:prstGeom prst="rect">
            <a:avLst/>
          </a:prstGeom>
        </p:spPr>
      </p:pic>
      <p:pic>
        <p:nvPicPr>
          <p:cNvPr id="3" name="Image 1" descr="preencoded.png"/>
          <p:cNvPicPr>
            <a:picLocks noChangeAspect="1"/>
          </p:cNvPicPr>
          <p:nvPr/>
        </p:nvPicPr>
        <p:blipFill>
          <a:blip r:embed="rId3">
            <a:alphaModFix amt="8000"/>
          </a:blip>
          <a:stretch>
            <a:fillRect/>
          </a:stretch>
        </p:blipFill>
        <p:spPr>
          <a:xfrm>
            <a:off x="-1097280" y="3657600"/>
            <a:ext cx="3657600" cy="365760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731520" y="1097280"/>
            <a:ext cx="2926080" cy="411480"/>
          </a:xfrm>
          <a:prstGeom prst="rect">
            <a:avLst/>
          </a:prstGeom>
          <a:solidFill>
            <a:srgbClr val="1C7293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5" name="Image 2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8680" y="1161288"/>
            <a:ext cx="274320" cy="274320"/>
          </a:xfrm>
          <a:prstGeom prst="rect">
            <a:avLst/>
          </a:prstGeom>
        </p:spPr>
      </p:pic>
      <p:sp>
        <p:nvSpPr>
          <p:cNvPr id="6" name="Text 1"/>
          <p:cNvSpPr/>
          <p:nvPr/>
        </p:nvSpPr>
        <p:spPr>
          <a:xfrm>
            <a:off x="1234440" y="1097280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HOUSTON, TEXAS</a:t>
            </a:r>
            <a:endParaRPr lang="en-US" sz="1100" dirty="0"/>
          </a:p>
        </p:txBody>
      </p:sp>
      <p:sp>
        <p:nvSpPr>
          <p:cNvPr id="7" name="Text 2"/>
          <p:cNvSpPr/>
          <p:nvPr/>
        </p:nvSpPr>
        <p:spPr>
          <a:xfrm>
            <a:off x="731520" y="1828800"/>
            <a:ext cx="10058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600" i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Predicting tomorrow's</a:t>
            </a:r>
            <a:endParaRPr lang="en-US" sz="4600" dirty="0"/>
          </a:p>
        </p:txBody>
      </p:sp>
      <p:sp>
        <p:nvSpPr>
          <p:cNvPr id="8" name="Text 3"/>
          <p:cNvSpPr/>
          <p:nvPr/>
        </p:nvSpPr>
        <p:spPr>
          <a:xfrm>
            <a:off x="731520" y="2606040"/>
            <a:ext cx="10058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air quality.</a:t>
            </a:r>
            <a:endParaRPr lang="en-US" sz="7600" dirty="0"/>
          </a:p>
        </p:txBody>
      </p:sp>
      <p:sp>
        <p:nvSpPr>
          <p:cNvPr id="9" name="Text 4"/>
          <p:cNvSpPr/>
          <p:nvPr/>
        </p:nvSpPr>
        <p:spPr>
          <a:xfrm>
            <a:off x="731520" y="4206240"/>
            <a:ext cx="8686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9EB3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machine learning project that forecasts the next-day Air Quality Index category for Houston using historical pollution and weather data.</a:t>
            </a:r>
            <a:endParaRPr lang="en-US" sz="1800" dirty="0"/>
          </a:p>
        </p:txBody>
      </p:sp>
      <p:sp>
        <p:nvSpPr>
          <p:cNvPr id="10" name="Shape 5"/>
          <p:cNvSpPr/>
          <p:nvPr/>
        </p:nvSpPr>
        <p:spPr>
          <a:xfrm>
            <a:off x="731520" y="5577840"/>
            <a:ext cx="548640" cy="54864"/>
          </a:xfrm>
          <a:prstGeom prst="rect">
            <a:avLst/>
          </a:prstGeom>
          <a:solidFill>
            <a:srgbClr val="F9A03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Text 6"/>
          <p:cNvSpPr/>
          <p:nvPr/>
        </p:nvSpPr>
        <p:spPr>
          <a:xfrm>
            <a:off x="731520" y="571500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kern="0" spc="300" dirty="0">
                <a:solidFill>
                  <a:srgbClr val="9EB3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End-to-end pipeline  ·  Multi-class classification</a:t>
            </a:r>
            <a:endParaRPr lang="en-US" sz="1300" dirty="0"/>
          </a:p>
        </p:txBody>
      </p:sp>
      <p:sp>
        <p:nvSpPr>
          <p:cNvPr id="14" name="Text 4">
            <a:extLst>
              <a:ext uri="{FF2B5EF4-FFF2-40B4-BE49-F238E27FC236}">
                <a16:creationId xmlns:a16="http://schemas.microsoft.com/office/drawing/2014/main" id="{A5989C78-26C8-0448-973C-27FC7C908CB5}"/>
              </a:ext>
            </a:extLst>
          </p:cNvPr>
          <p:cNvSpPr/>
          <p:nvPr/>
        </p:nvSpPr>
        <p:spPr>
          <a:xfrm>
            <a:off x="8551911" y="1645920"/>
            <a:ext cx="371340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9EB3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MSAIS 5302 - AI &amp; Machine Learning Final Presentation</a:t>
            </a:r>
          </a:p>
          <a:p>
            <a:pPr marL="0" indent="0" algn="ctr">
              <a:buNone/>
            </a:pPr>
            <a:r>
              <a:rPr lang="en-US" dirty="0">
                <a:solidFill>
                  <a:srgbClr val="9EB3C2"/>
                </a:solidFill>
                <a:latin typeface="Calibri" pitchFamily="34" charset="0"/>
                <a:cs typeface="Calibri" pitchFamily="34" charset="-120"/>
              </a:rPr>
              <a:t>Mitaali Dayal</a:t>
            </a:r>
            <a:endParaRPr lang="en-US" sz="1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365760" cy="365760"/>
          </a:xfrm>
          <a:prstGeom prst="ellipse">
            <a:avLst/>
          </a:prstGeom>
          <a:solidFill>
            <a:srgbClr val="1C7293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1005840" y="41148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kern="0" spc="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PROBLEM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548640" y="96012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800" b="1" dirty="0">
                <a:solidFill>
                  <a:srgbClr val="0F2A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Why predict tomorrow's air?</a:t>
            </a:r>
            <a:endParaRPr lang="en-US" sz="3800" dirty="0"/>
          </a:p>
        </p:txBody>
      </p:sp>
      <p:sp>
        <p:nvSpPr>
          <p:cNvPr id="5" name="Text 3"/>
          <p:cNvSpPr/>
          <p:nvPr/>
        </p:nvSpPr>
        <p:spPr>
          <a:xfrm>
            <a:off x="548640" y="1828800"/>
            <a:ext cx="10058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Today's AQI is already public. Tomorrow's hasn't happened yet — and that's the number people actually need to make decisions.</a:t>
            </a:r>
            <a:endParaRPr lang="en-US" sz="1700" dirty="0"/>
          </a:p>
        </p:txBody>
      </p:sp>
      <p:sp>
        <p:nvSpPr>
          <p:cNvPr id="6" name="Shape 4"/>
          <p:cNvSpPr/>
          <p:nvPr/>
        </p:nvSpPr>
        <p:spPr>
          <a:xfrm>
            <a:off x="609448" y="3017520"/>
            <a:ext cx="2606040" cy="2743200"/>
          </a:xfrm>
          <a:prstGeom prst="rect">
            <a:avLst/>
          </a:prstGeom>
          <a:solidFill>
            <a:srgbClr val="E8EEF3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609448" y="3017520"/>
            <a:ext cx="73152" cy="2743200"/>
          </a:xfrm>
          <a:prstGeom prst="rect">
            <a:avLst/>
          </a:prstGeom>
          <a:solidFill>
            <a:srgbClr val="1C7293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Shape 6"/>
          <p:cNvSpPr/>
          <p:nvPr/>
        </p:nvSpPr>
        <p:spPr>
          <a:xfrm>
            <a:off x="975208" y="3383280"/>
            <a:ext cx="777240" cy="77724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C729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9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39800" y="3547872"/>
            <a:ext cx="457200" cy="457200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975208" y="4297680"/>
            <a:ext cx="2057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0F2A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Parents</a:t>
            </a:r>
            <a:endParaRPr lang="en-US" sz="2200" dirty="0"/>
          </a:p>
        </p:txBody>
      </p:sp>
      <p:sp>
        <p:nvSpPr>
          <p:cNvPr id="11" name="Text 8"/>
          <p:cNvSpPr/>
          <p:nvPr/>
        </p:nvSpPr>
        <p:spPr>
          <a:xfrm>
            <a:off x="975208" y="4800600"/>
            <a:ext cx="2057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Should my asthmatic child play outside tomorrow?</a:t>
            </a:r>
            <a:endParaRPr lang="en-US" sz="1300" dirty="0"/>
          </a:p>
        </p:txBody>
      </p:sp>
      <p:sp>
        <p:nvSpPr>
          <p:cNvPr id="12" name="Shape 9"/>
          <p:cNvSpPr/>
          <p:nvPr/>
        </p:nvSpPr>
        <p:spPr>
          <a:xfrm>
            <a:off x="3398368" y="3017520"/>
            <a:ext cx="2606040" cy="2743200"/>
          </a:xfrm>
          <a:prstGeom prst="rect">
            <a:avLst/>
          </a:prstGeom>
          <a:solidFill>
            <a:srgbClr val="E8EEF3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Shape 10"/>
          <p:cNvSpPr/>
          <p:nvPr/>
        </p:nvSpPr>
        <p:spPr>
          <a:xfrm>
            <a:off x="3398368" y="3017520"/>
            <a:ext cx="73152" cy="2743200"/>
          </a:xfrm>
          <a:prstGeom prst="rect">
            <a:avLst/>
          </a:prstGeom>
          <a:solidFill>
            <a:srgbClr val="1C7293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" name="Shape 11"/>
          <p:cNvSpPr/>
          <p:nvPr/>
        </p:nvSpPr>
        <p:spPr>
          <a:xfrm>
            <a:off x="3764128" y="3383280"/>
            <a:ext cx="777240" cy="77724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C729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15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928720" y="3547872"/>
            <a:ext cx="457200" cy="457200"/>
          </a:xfrm>
          <a:prstGeom prst="rect">
            <a:avLst/>
          </a:prstGeom>
        </p:spPr>
      </p:pic>
      <p:sp>
        <p:nvSpPr>
          <p:cNvPr id="16" name="Text 12"/>
          <p:cNvSpPr/>
          <p:nvPr/>
        </p:nvSpPr>
        <p:spPr>
          <a:xfrm>
            <a:off x="3764128" y="4297680"/>
            <a:ext cx="2057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0F2A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Schools</a:t>
            </a:r>
            <a:endParaRPr lang="en-US" sz="2200" dirty="0"/>
          </a:p>
        </p:txBody>
      </p:sp>
      <p:sp>
        <p:nvSpPr>
          <p:cNvPr id="17" name="Text 13"/>
          <p:cNvSpPr/>
          <p:nvPr/>
        </p:nvSpPr>
        <p:spPr>
          <a:xfrm>
            <a:off x="3764128" y="4800600"/>
            <a:ext cx="2057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 we hold tomorrow's outdoor PE class?</a:t>
            </a:r>
            <a:endParaRPr lang="en-US" sz="1300" dirty="0"/>
          </a:p>
        </p:txBody>
      </p:sp>
      <p:sp>
        <p:nvSpPr>
          <p:cNvPr id="18" name="Shape 14"/>
          <p:cNvSpPr/>
          <p:nvPr/>
        </p:nvSpPr>
        <p:spPr>
          <a:xfrm>
            <a:off x="6187288" y="3017520"/>
            <a:ext cx="2606040" cy="2743200"/>
          </a:xfrm>
          <a:prstGeom prst="rect">
            <a:avLst/>
          </a:prstGeom>
          <a:solidFill>
            <a:srgbClr val="E8EEF3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9" name="Shape 15"/>
          <p:cNvSpPr/>
          <p:nvPr/>
        </p:nvSpPr>
        <p:spPr>
          <a:xfrm>
            <a:off x="6187288" y="3017520"/>
            <a:ext cx="73152" cy="2743200"/>
          </a:xfrm>
          <a:prstGeom prst="rect">
            <a:avLst/>
          </a:prstGeom>
          <a:solidFill>
            <a:srgbClr val="1C7293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0" name="Shape 16"/>
          <p:cNvSpPr/>
          <p:nvPr/>
        </p:nvSpPr>
        <p:spPr>
          <a:xfrm>
            <a:off x="6553048" y="3383280"/>
            <a:ext cx="777240" cy="77724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C729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21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17640" y="3547872"/>
            <a:ext cx="457200" cy="457200"/>
          </a:xfrm>
          <a:prstGeom prst="rect">
            <a:avLst/>
          </a:prstGeom>
        </p:spPr>
      </p:pic>
      <p:sp>
        <p:nvSpPr>
          <p:cNvPr id="22" name="Text 17"/>
          <p:cNvSpPr/>
          <p:nvPr/>
        </p:nvSpPr>
        <p:spPr>
          <a:xfrm>
            <a:off x="6553048" y="4297680"/>
            <a:ext cx="2057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0F2A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City teams</a:t>
            </a:r>
            <a:endParaRPr lang="en-US" sz="2200" dirty="0"/>
          </a:p>
        </p:txBody>
      </p:sp>
      <p:sp>
        <p:nvSpPr>
          <p:cNvPr id="23" name="Text 18"/>
          <p:cNvSpPr/>
          <p:nvPr/>
        </p:nvSpPr>
        <p:spPr>
          <a:xfrm>
            <a:off x="6553048" y="4800600"/>
            <a:ext cx="2057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Should we issue a public-health advisory?</a:t>
            </a:r>
            <a:endParaRPr lang="en-US" sz="1300" dirty="0"/>
          </a:p>
        </p:txBody>
      </p:sp>
      <p:sp>
        <p:nvSpPr>
          <p:cNvPr id="24" name="Shape 19"/>
          <p:cNvSpPr/>
          <p:nvPr/>
        </p:nvSpPr>
        <p:spPr>
          <a:xfrm>
            <a:off x="8976208" y="3017520"/>
            <a:ext cx="2606040" cy="2743200"/>
          </a:xfrm>
          <a:prstGeom prst="rect">
            <a:avLst/>
          </a:prstGeom>
          <a:solidFill>
            <a:srgbClr val="E8EEF3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5" name="Shape 20"/>
          <p:cNvSpPr/>
          <p:nvPr/>
        </p:nvSpPr>
        <p:spPr>
          <a:xfrm>
            <a:off x="8976208" y="3017520"/>
            <a:ext cx="73152" cy="2743200"/>
          </a:xfrm>
          <a:prstGeom prst="rect">
            <a:avLst/>
          </a:prstGeom>
          <a:solidFill>
            <a:srgbClr val="1C7293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6" name="Shape 21"/>
          <p:cNvSpPr/>
          <p:nvPr/>
        </p:nvSpPr>
        <p:spPr>
          <a:xfrm>
            <a:off x="9341968" y="3383280"/>
            <a:ext cx="777240" cy="77724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C729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27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506560" y="3547872"/>
            <a:ext cx="457200" cy="457200"/>
          </a:xfrm>
          <a:prstGeom prst="rect">
            <a:avLst/>
          </a:prstGeom>
        </p:spPr>
      </p:pic>
      <p:sp>
        <p:nvSpPr>
          <p:cNvPr id="28" name="Text 22"/>
          <p:cNvSpPr/>
          <p:nvPr/>
        </p:nvSpPr>
        <p:spPr>
          <a:xfrm>
            <a:off x="9341968" y="4297680"/>
            <a:ext cx="2057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0F2A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Athletes</a:t>
            </a:r>
            <a:endParaRPr lang="en-US" sz="2200" dirty="0"/>
          </a:p>
        </p:txBody>
      </p:sp>
      <p:sp>
        <p:nvSpPr>
          <p:cNvPr id="29" name="Text 23"/>
          <p:cNvSpPr/>
          <p:nvPr/>
        </p:nvSpPr>
        <p:spPr>
          <a:xfrm>
            <a:off x="9341968" y="4800600"/>
            <a:ext cx="2057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 tomorrow's morning run safe to do outside?</a:t>
            </a:r>
            <a:endParaRPr lang="en-US" sz="1300" dirty="0"/>
          </a:p>
        </p:txBody>
      </p:sp>
      <p:sp>
        <p:nvSpPr>
          <p:cNvPr id="30" name="Text 24"/>
          <p:cNvSpPr/>
          <p:nvPr/>
        </p:nvSpPr>
        <p:spPr>
          <a:xfrm>
            <a:off x="548640" y="594360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forecast, four different decisions. The model exists to help all of them.</a:t>
            </a:r>
            <a:endParaRPr lang="en-US" sz="1300" dirty="0"/>
          </a:p>
        </p:txBody>
      </p:sp>
      <p:sp>
        <p:nvSpPr>
          <p:cNvPr id="31" name="Text 25"/>
          <p:cNvSpPr/>
          <p:nvPr/>
        </p:nvSpPr>
        <p:spPr>
          <a:xfrm>
            <a:off x="457200" y="644652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Houston AQI Forecast  ·  Next-day classifier</a:t>
            </a:r>
            <a:endParaRPr lang="en-US" sz="1000" dirty="0"/>
          </a:p>
        </p:txBody>
      </p:sp>
      <p:sp>
        <p:nvSpPr>
          <p:cNvPr id="32" name="Text 26"/>
          <p:cNvSpPr/>
          <p:nvPr/>
        </p:nvSpPr>
        <p:spPr>
          <a:xfrm>
            <a:off x="1127729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/ 11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365760" cy="365760"/>
          </a:xfrm>
          <a:prstGeom prst="ellipse">
            <a:avLst/>
          </a:prstGeom>
          <a:solidFill>
            <a:srgbClr val="1C7293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1005840" y="41148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kern="0" spc="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THE NEWS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548640" y="96012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0F2A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Houston's air quality keeps making headlines.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548640" y="1691640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Recent reporting on the same problem we're trying to forecast — from rankings, ozone alerts, refinery emissions, and wildfire smoke.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403708" y="2514600"/>
            <a:ext cx="3703320" cy="1691640"/>
          </a:xfrm>
          <a:prstGeom prst="rect">
            <a:avLst/>
          </a:prstGeom>
          <a:solidFill>
            <a:srgbClr val="E8EEF3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403708" y="2514600"/>
            <a:ext cx="3703320" cy="54864"/>
          </a:xfrm>
          <a:prstGeom prst="rect">
            <a:avLst/>
          </a:prstGeom>
          <a:solidFill>
            <a:srgbClr val="C0392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632308" y="2679192"/>
            <a:ext cx="3246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30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AMERICAN LUNG ASSOCIATION  ·  STATE OF THE AIR 2025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632308" y="2971800"/>
            <a:ext cx="3246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F2A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Houston metro ranked 7th most polluted U.S. city for ozone.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4244188" y="2514600"/>
            <a:ext cx="3703320" cy="1691640"/>
          </a:xfrm>
          <a:prstGeom prst="rect">
            <a:avLst/>
          </a:prstGeom>
          <a:solidFill>
            <a:srgbClr val="E8EEF3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" name="Shape 10"/>
          <p:cNvSpPr/>
          <p:nvPr/>
        </p:nvSpPr>
        <p:spPr>
          <a:xfrm>
            <a:off x="4244188" y="2514600"/>
            <a:ext cx="3703320" cy="54864"/>
          </a:xfrm>
          <a:prstGeom prst="rect">
            <a:avLst/>
          </a:prstGeom>
          <a:solidFill>
            <a:srgbClr val="F9A03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4472788" y="2679192"/>
            <a:ext cx="3246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300" dirty="0">
                <a:solidFill>
                  <a:srgbClr val="F9A0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NEWSWEEK  ·  2024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4472788" y="2971800"/>
            <a:ext cx="3246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F2A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Houston saw nearly 50 ozone action days in 2024.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8084668" y="2514600"/>
            <a:ext cx="3703320" cy="1691640"/>
          </a:xfrm>
          <a:prstGeom prst="rect">
            <a:avLst/>
          </a:prstGeom>
          <a:solidFill>
            <a:srgbClr val="E8EEF3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" name="Shape 15"/>
          <p:cNvSpPr/>
          <p:nvPr/>
        </p:nvSpPr>
        <p:spPr>
          <a:xfrm>
            <a:off x="8084668" y="2514600"/>
            <a:ext cx="3703320" cy="54864"/>
          </a:xfrm>
          <a:prstGeom prst="rect">
            <a:avLst/>
          </a:prstGeom>
          <a:solidFill>
            <a:srgbClr val="C0392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8313268" y="2679192"/>
            <a:ext cx="3246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30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HOUSTON PUBLIC MEDIA  ·  AUG 2024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8313268" y="2971800"/>
            <a:ext cx="3246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F2A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"Dirty Dozen" report names city's 12 worst air polluters.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403708" y="4343400"/>
            <a:ext cx="3703320" cy="1691640"/>
          </a:xfrm>
          <a:prstGeom prst="rect">
            <a:avLst/>
          </a:prstGeom>
          <a:solidFill>
            <a:srgbClr val="E8EEF3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2" name="Shape 20"/>
          <p:cNvSpPr/>
          <p:nvPr/>
        </p:nvSpPr>
        <p:spPr>
          <a:xfrm>
            <a:off x="403708" y="4343400"/>
            <a:ext cx="3703320" cy="54864"/>
          </a:xfrm>
          <a:prstGeom prst="rect">
            <a:avLst/>
          </a:prstGeom>
          <a:solidFill>
            <a:srgbClr val="F9A03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3" name="Text 21"/>
          <p:cNvSpPr/>
          <p:nvPr/>
        </p:nvSpPr>
        <p:spPr>
          <a:xfrm>
            <a:off x="632308" y="4507992"/>
            <a:ext cx="3246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300" dirty="0">
                <a:solidFill>
                  <a:srgbClr val="F9A0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HOUSTON LANDING  ·  MAY 2024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632308" y="4800600"/>
            <a:ext cx="3246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F2A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Wildfire smoke from Central America blankets Houston.</a:t>
            </a:r>
            <a:endParaRPr lang="en-US" sz="1400" dirty="0"/>
          </a:p>
        </p:txBody>
      </p:sp>
      <p:sp>
        <p:nvSpPr>
          <p:cNvPr id="26" name="Shape 24"/>
          <p:cNvSpPr/>
          <p:nvPr/>
        </p:nvSpPr>
        <p:spPr>
          <a:xfrm>
            <a:off x="4244188" y="4343400"/>
            <a:ext cx="3703320" cy="1691640"/>
          </a:xfrm>
          <a:prstGeom prst="rect">
            <a:avLst/>
          </a:prstGeom>
          <a:solidFill>
            <a:srgbClr val="E8EEF3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7" name="Shape 25"/>
          <p:cNvSpPr/>
          <p:nvPr/>
        </p:nvSpPr>
        <p:spPr>
          <a:xfrm>
            <a:off x="4244188" y="4343400"/>
            <a:ext cx="3703320" cy="54864"/>
          </a:xfrm>
          <a:prstGeom prst="rect">
            <a:avLst/>
          </a:prstGeom>
          <a:solidFill>
            <a:srgbClr val="C0392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8" name="Text 26"/>
          <p:cNvSpPr/>
          <p:nvPr/>
        </p:nvSpPr>
        <p:spPr>
          <a:xfrm>
            <a:off x="4472788" y="4507992"/>
            <a:ext cx="3246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30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TEXAS TRIBUNE  ·  MAR 2024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4472788" y="4800600"/>
            <a:ext cx="3246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F2A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Air monitors fail Latino communities near the Ship Channel.</a:t>
            </a:r>
            <a:endParaRPr lang="en-US" sz="1400" dirty="0"/>
          </a:p>
        </p:txBody>
      </p:sp>
      <p:sp>
        <p:nvSpPr>
          <p:cNvPr id="31" name="Shape 29"/>
          <p:cNvSpPr/>
          <p:nvPr/>
        </p:nvSpPr>
        <p:spPr>
          <a:xfrm>
            <a:off x="8084668" y="4343400"/>
            <a:ext cx="3703320" cy="1691640"/>
          </a:xfrm>
          <a:prstGeom prst="rect">
            <a:avLst/>
          </a:prstGeom>
          <a:solidFill>
            <a:srgbClr val="0F2A47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3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58988" y="4617720"/>
            <a:ext cx="365760" cy="365760"/>
          </a:xfrm>
          <a:prstGeom prst="rect">
            <a:avLst/>
          </a:prstGeom>
        </p:spPr>
      </p:pic>
      <p:sp>
        <p:nvSpPr>
          <p:cNvPr id="33" name="Text 30"/>
          <p:cNvSpPr/>
          <p:nvPr/>
        </p:nvSpPr>
        <p:spPr>
          <a:xfrm>
            <a:off x="8861908" y="4617720"/>
            <a:ext cx="2788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300" dirty="0">
                <a:solidFill>
                  <a:srgbClr val="F9A0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THIS PROJECT EXISTS</a:t>
            </a:r>
            <a:endParaRPr lang="en-US" sz="900" dirty="0"/>
          </a:p>
        </p:txBody>
      </p:sp>
      <p:sp>
        <p:nvSpPr>
          <p:cNvPr id="34" name="Text 31"/>
          <p:cNvSpPr/>
          <p:nvPr/>
        </p:nvSpPr>
        <p:spPr>
          <a:xfrm>
            <a:off x="8358988" y="5074920"/>
            <a:ext cx="32461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Houston has a real, recurring air quality problem. A reliable next-day forecast helps families and schools plan ahead.</a:t>
            </a:r>
            <a:endParaRPr lang="en-US" sz="1200" dirty="0"/>
          </a:p>
        </p:txBody>
      </p:sp>
      <p:sp>
        <p:nvSpPr>
          <p:cNvPr id="35" name="Text 32"/>
          <p:cNvSpPr/>
          <p:nvPr/>
        </p:nvSpPr>
        <p:spPr>
          <a:xfrm>
            <a:off x="457200" y="644652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Houston AQI Forecast  ·  Next-day classifier</a:t>
            </a:r>
            <a:endParaRPr lang="en-US" sz="1000" dirty="0"/>
          </a:p>
        </p:txBody>
      </p:sp>
      <p:sp>
        <p:nvSpPr>
          <p:cNvPr id="36" name="Text 33"/>
          <p:cNvSpPr/>
          <p:nvPr/>
        </p:nvSpPr>
        <p:spPr>
          <a:xfrm>
            <a:off x="1127729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/ 11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365760" cy="365760"/>
          </a:xfrm>
          <a:prstGeom prst="ellipse">
            <a:avLst/>
          </a:prstGeom>
          <a:solidFill>
            <a:srgbClr val="1C7293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1005840" y="41148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kern="0" spc="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TARGET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548640" y="96012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800" b="1" dirty="0">
                <a:solidFill>
                  <a:srgbClr val="0F2A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Three categories, one prediction.</a:t>
            </a:r>
            <a:endParaRPr lang="en-US" sz="3800" dirty="0"/>
          </a:p>
        </p:txBody>
      </p:sp>
      <p:sp>
        <p:nvSpPr>
          <p:cNvPr id="5" name="Text 3"/>
          <p:cNvSpPr/>
          <p:nvPr/>
        </p:nvSpPr>
        <p:spPr>
          <a:xfrm>
            <a:off x="548640" y="1828800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Air Quality Index runs 0–500. We group the relevant range into three actionable classes.</a:t>
            </a:r>
            <a:endParaRPr lang="en-US" sz="1700" dirty="0"/>
          </a:p>
        </p:txBody>
      </p:sp>
      <p:sp>
        <p:nvSpPr>
          <p:cNvPr id="6" name="Shape 4"/>
          <p:cNvSpPr/>
          <p:nvPr/>
        </p:nvSpPr>
        <p:spPr>
          <a:xfrm>
            <a:off x="548640" y="2743200"/>
            <a:ext cx="11094415" cy="960120"/>
          </a:xfrm>
          <a:prstGeom prst="rect">
            <a:avLst/>
          </a:prstGeom>
          <a:solidFill>
            <a:srgbClr val="E8EEF3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548640" y="2743200"/>
            <a:ext cx="109728" cy="960120"/>
          </a:xfrm>
          <a:prstGeom prst="rect">
            <a:avLst/>
          </a:prstGeom>
          <a:solidFill>
            <a:srgbClr val="63992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868680" y="2743200"/>
            <a:ext cx="14630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0F2A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 – 50</a:t>
            </a:r>
            <a:endParaRPr lang="en-US" sz="2400" dirty="0"/>
          </a:p>
        </p:txBody>
      </p:sp>
      <p:sp>
        <p:nvSpPr>
          <p:cNvPr id="9" name="Shape 7"/>
          <p:cNvSpPr/>
          <p:nvPr/>
        </p:nvSpPr>
        <p:spPr>
          <a:xfrm>
            <a:off x="2468880" y="2926080"/>
            <a:ext cx="594360" cy="59436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3992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10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87752" y="3044952"/>
            <a:ext cx="365760" cy="365760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3246120" y="283464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6399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Good</a:t>
            </a:r>
            <a:endParaRPr lang="en-US" sz="1700" dirty="0"/>
          </a:p>
        </p:txBody>
      </p:sp>
      <p:sp>
        <p:nvSpPr>
          <p:cNvPr id="12" name="Text 9"/>
          <p:cNvSpPr/>
          <p:nvPr/>
        </p:nvSpPr>
        <p:spPr>
          <a:xfrm>
            <a:off x="3246120" y="3246120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Air is clean. Go outside, exercise, breathe deep.</a:t>
            </a:r>
            <a:endParaRPr lang="en-US" sz="1300" dirty="0"/>
          </a:p>
        </p:txBody>
      </p:sp>
      <p:sp>
        <p:nvSpPr>
          <p:cNvPr id="13" name="Shape 10"/>
          <p:cNvSpPr/>
          <p:nvPr/>
        </p:nvSpPr>
        <p:spPr>
          <a:xfrm>
            <a:off x="548640" y="3886200"/>
            <a:ext cx="11094415" cy="960120"/>
          </a:xfrm>
          <a:prstGeom prst="rect">
            <a:avLst/>
          </a:prstGeom>
          <a:solidFill>
            <a:srgbClr val="E8EEF3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" name="Shape 11"/>
          <p:cNvSpPr/>
          <p:nvPr/>
        </p:nvSpPr>
        <p:spPr>
          <a:xfrm>
            <a:off x="548640" y="3886200"/>
            <a:ext cx="109728" cy="960120"/>
          </a:xfrm>
          <a:prstGeom prst="rect">
            <a:avLst/>
          </a:prstGeom>
          <a:solidFill>
            <a:srgbClr val="BA751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" name="Text 12"/>
          <p:cNvSpPr/>
          <p:nvPr/>
        </p:nvSpPr>
        <p:spPr>
          <a:xfrm>
            <a:off x="868680" y="3886200"/>
            <a:ext cx="14630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0F2A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51 – 100</a:t>
            </a:r>
            <a:endParaRPr lang="en-US" sz="2400" dirty="0"/>
          </a:p>
        </p:txBody>
      </p:sp>
      <p:sp>
        <p:nvSpPr>
          <p:cNvPr id="16" name="Shape 13"/>
          <p:cNvSpPr/>
          <p:nvPr/>
        </p:nvSpPr>
        <p:spPr>
          <a:xfrm>
            <a:off x="2468880" y="4069080"/>
            <a:ext cx="594360" cy="59436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BA751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17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587752" y="4187952"/>
            <a:ext cx="365760" cy="365760"/>
          </a:xfrm>
          <a:prstGeom prst="rect">
            <a:avLst/>
          </a:prstGeom>
        </p:spPr>
      </p:pic>
      <p:sp>
        <p:nvSpPr>
          <p:cNvPr id="18" name="Text 14"/>
          <p:cNvSpPr/>
          <p:nvPr/>
        </p:nvSpPr>
        <p:spPr>
          <a:xfrm>
            <a:off x="3246120" y="397764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BA75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Moderate</a:t>
            </a:r>
            <a:endParaRPr lang="en-US" sz="1700" dirty="0"/>
          </a:p>
        </p:txBody>
      </p:sp>
      <p:sp>
        <p:nvSpPr>
          <p:cNvPr id="19" name="Text 15"/>
          <p:cNvSpPr/>
          <p:nvPr/>
        </p:nvSpPr>
        <p:spPr>
          <a:xfrm>
            <a:off x="3246120" y="4389120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Acceptable for most. Some sensitive folks may notice it.</a:t>
            </a:r>
            <a:endParaRPr lang="en-US" sz="1300" dirty="0"/>
          </a:p>
        </p:txBody>
      </p:sp>
      <p:sp>
        <p:nvSpPr>
          <p:cNvPr id="20" name="Shape 16"/>
          <p:cNvSpPr/>
          <p:nvPr/>
        </p:nvSpPr>
        <p:spPr>
          <a:xfrm>
            <a:off x="548640" y="5029200"/>
            <a:ext cx="11094415" cy="960120"/>
          </a:xfrm>
          <a:prstGeom prst="rect">
            <a:avLst/>
          </a:prstGeom>
          <a:solidFill>
            <a:srgbClr val="E8EEF3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1" name="Shape 17"/>
          <p:cNvSpPr/>
          <p:nvPr/>
        </p:nvSpPr>
        <p:spPr>
          <a:xfrm>
            <a:off x="548640" y="5029200"/>
            <a:ext cx="109728" cy="960120"/>
          </a:xfrm>
          <a:prstGeom prst="rect">
            <a:avLst/>
          </a:prstGeom>
          <a:solidFill>
            <a:srgbClr val="C0392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2" name="Text 18"/>
          <p:cNvSpPr/>
          <p:nvPr/>
        </p:nvSpPr>
        <p:spPr>
          <a:xfrm>
            <a:off x="868680" y="5029200"/>
            <a:ext cx="14630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0F2A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101+</a:t>
            </a:r>
            <a:endParaRPr lang="en-US" sz="2400" dirty="0"/>
          </a:p>
        </p:txBody>
      </p:sp>
      <p:sp>
        <p:nvSpPr>
          <p:cNvPr id="23" name="Shape 19"/>
          <p:cNvSpPr/>
          <p:nvPr/>
        </p:nvSpPr>
        <p:spPr>
          <a:xfrm>
            <a:off x="2468880" y="5212080"/>
            <a:ext cx="594360" cy="59436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C0392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24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587752" y="5330952"/>
            <a:ext cx="365760" cy="365760"/>
          </a:xfrm>
          <a:prstGeom prst="rect">
            <a:avLst/>
          </a:prstGeom>
        </p:spPr>
      </p:pic>
      <p:sp>
        <p:nvSpPr>
          <p:cNvPr id="25" name="Text 20"/>
          <p:cNvSpPr/>
          <p:nvPr/>
        </p:nvSpPr>
        <p:spPr>
          <a:xfrm>
            <a:off x="3246120" y="512064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Unhealthy for sensitive groups</a:t>
            </a:r>
            <a:endParaRPr lang="en-US" sz="1700" dirty="0"/>
          </a:p>
        </p:txBody>
      </p:sp>
      <p:sp>
        <p:nvSpPr>
          <p:cNvPr id="26" name="Text 21"/>
          <p:cNvSpPr/>
          <p:nvPr/>
        </p:nvSpPr>
        <p:spPr>
          <a:xfrm>
            <a:off x="3246120" y="5532120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Asthmatics, kids, elderly, people with heart conditions should reduce outdoor exertion.</a:t>
            </a:r>
            <a:endParaRPr lang="en-US" sz="1300" dirty="0"/>
          </a:p>
        </p:txBody>
      </p:sp>
      <p:sp>
        <p:nvSpPr>
          <p:cNvPr id="27" name="Text 22"/>
          <p:cNvSpPr/>
          <p:nvPr/>
        </p:nvSpPr>
        <p:spPr>
          <a:xfrm>
            <a:off x="548640" y="598932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frame this as multi-class classification: given today, predict which class tomorrow falls into.</a:t>
            </a:r>
            <a:endParaRPr lang="en-US" sz="1300" dirty="0"/>
          </a:p>
        </p:txBody>
      </p:sp>
      <p:sp>
        <p:nvSpPr>
          <p:cNvPr id="28" name="Text 23"/>
          <p:cNvSpPr/>
          <p:nvPr/>
        </p:nvSpPr>
        <p:spPr>
          <a:xfrm>
            <a:off x="457200" y="644652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Houston AQI Forecast  ·  Next-day classifier</a:t>
            </a:r>
            <a:endParaRPr lang="en-US" sz="1000" dirty="0"/>
          </a:p>
        </p:txBody>
      </p:sp>
      <p:sp>
        <p:nvSpPr>
          <p:cNvPr id="29" name="Text 24"/>
          <p:cNvSpPr/>
          <p:nvPr/>
        </p:nvSpPr>
        <p:spPr>
          <a:xfrm>
            <a:off x="1127729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/ 11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365760" cy="365760"/>
          </a:xfrm>
          <a:prstGeom prst="ellipse">
            <a:avLst/>
          </a:prstGeom>
          <a:solidFill>
            <a:srgbClr val="1C7293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1005840" y="41148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kern="0" spc="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DATA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548640" y="96012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800" b="1" dirty="0">
                <a:solidFill>
                  <a:srgbClr val="0F2A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Two public sources, six years.</a:t>
            </a:r>
            <a:endParaRPr lang="en-US" sz="3800" dirty="0"/>
          </a:p>
        </p:txBody>
      </p:sp>
      <p:sp>
        <p:nvSpPr>
          <p:cNvPr id="5" name="Text 3"/>
          <p:cNvSpPr/>
          <p:nvPr/>
        </p:nvSpPr>
        <p:spPr>
          <a:xfrm>
            <a:off x="548640" y="1828800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sources pulled directly from public APIs — no manual downloads, fully reproducible.</a:t>
            </a:r>
            <a:endParaRPr lang="en-US" sz="1700" dirty="0"/>
          </a:p>
        </p:txBody>
      </p:sp>
      <p:sp>
        <p:nvSpPr>
          <p:cNvPr id="6" name="Shape 4"/>
          <p:cNvSpPr/>
          <p:nvPr/>
        </p:nvSpPr>
        <p:spPr>
          <a:xfrm>
            <a:off x="700888" y="2606040"/>
            <a:ext cx="5212080" cy="2103120"/>
          </a:xfrm>
          <a:prstGeom prst="rect">
            <a:avLst/>
          </a:prstGeom>
          <a:solidFill>
            <a:srgbClr val="E8EEF3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700888" y="2606040"/>
            <a:ext cx="5212080" cy="73152"/>
          </a:xfrm>
          <a:prstGeom prst="rect">
            <a:avLst/>
          </a:prstGeom>
          <a:solidFill>
            <a:srgbClr val="065A82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8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58088" y="2971800"/>
            <a:ext cx="640080" cy="640080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981048" y="2926080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50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POLLUTION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1981048" y="3154680"/>
            <a:ext cx="3749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0F2A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EPA Air Quality System</a:t>
            </a:r>
            <a:endParaRPr lang="en-US" sz="2200" dirty="0"/>
          </a:p>
        </p:txBody>
      </p:sp>
      <p:sp>
        <p:nvSpPr>
          <p:cNvPr id="11" name="Text 8"/>
          <p:cNvSpPr/>
          <p:nvPr/>
        </p:nvSpPr>
        <p:spPr>
          <a:xfrm>
            <a:off x="1158088" y="3794760"/>
            <a:ext cx="4389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Daily AQI values for Harris County, TX (Houston). Includes the dominant pollutant — PM2.5, ozone, PM10, NO₂.</a:t>
            </a:r>
            <a:endParaRPr lang="en-US" sz="1300" dirty="0"/>
          </a:p>
        </p:txBody>
      </p:sp>
      <p:sp>
        <p:nvSpPr>
          <p:cNvPr id="12" name="Shape 9"/>
          <p:cNvSpPr/>
          <p:nvPr/>
        </p:nvSpPr>
        <p:spPr>
          <a:xfrm>
            <a:off x="6278728" y="2606040"/>
            <a:ext cx="5212080" cy="2103120"/>
          </a:xfrm>
          <a:prstGeom prst="rect">
            <a:avLst/>
          </a:prstGeom>
          <a:solidFill>
            <a:srgbClr val="E8EEF3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Shape 10"/>
          <p:cNvSpPr/>
          <p:nvPr/>
        </p:nvSpPr>
        <p:spPr>
          <a:xfrm>
            <a:off x="6278728" y="2606040"/>
            <a:ext cx="5212080" cy="73152"/>
          </a:xfrm>
          <a:prstGeom prst="rect">
            <a:avLst/>
          </a:prstGeom>
          <a:solidFill>
            <a:srgbClr val="065A82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4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35928" y="2971800"/>
            <a:ext cx="640080" cy="640080"/>
          </a:xfrm>
          <a:prstGeom prst="rect">
            <a:avLst/>
          </a:prstGeom>
        </p:spPr>
      </p:pic>
      <p:sp>
        <p:nvSpPr>
          <p:cNvPr id="15" name="Text 11"/>
          <p:cNvSpPr/>
          <p:nvPr/>
        </p:nvSpPr>
        <p:spPr>
          <a:xfrm>
            <a:off x="7558888" y="2926080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50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WEATHER</a:t>
            </a:r>
            <a:endParaRPr lang="en-US" sz="1100" dirty="0"/>
          </a:p>
        </p:txBody>
      </p:sp>
      <p:sp>
        <p:nvSpPr>
          <p:cNvPr id="16" name="Text 12"/>
          <p:cNvSpPr/>
          <p:nvPr/>
        </p:nvSpPr>
        <p:spPr>
          <a:xfrm>
            <a:off x="7558888" y="3154680"/>
            <a:ext cx="3749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0F2A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Open-Meteo Archive</a:t>
            </a:r>
            <a:endParaRPr lang="en-US" sz="2200" dirty="0"/>
          </a:p>
        </p:txBody>
      </p:sp>
      <p:sp>
        <p:nvSpPr>
          <p:cNvPr id="17" name="Text 13"/>
          <p:cNvSpPr/>
          <p:nvPr/>
        </p:nvSpPr>
        <p:spPr>
          <a:xfrm>
            <a:off x="6735928" y="3794760"/>
            <a:ext cx="4389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Daily temperature, humidity, wind speed, and precipitation at Houston's coordinates.</a:t>
            </a:r>
            <a:endParaRPr lang="en-US" sz="1300" dirty="0"/>
          </a:p>
        </p:txBody>
      </p:sp>
      <p:sp>
        <p:nvSpPr>
          <p:cNvPr id="18" name="Text 14"/>
          <p:cNvSpPr/>
          <p:nvPr/>
        </p:nvSpPr>
        <p:spPr>
          <a:xfrm>
            <a:off x="0" y="4983480"/>
            <a:ext cx="121916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i="1" kern="0" spc="30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Joined on date</a:t>
            </a:r>
            <a:endParaRPr lang="en-US" sz="1200" dirty="0"/>
          </a:p>
        </p:txBody>
      </p:sp>
      <p:sp>
        <p:nvSpPr>
          <p:cNvPr id="19" name="Text 15"/>
          <p:cNvSpPr/>
          <p:nvPr/>
        </p:nvSpPr>
        <p:spPr>
          <a:xfrm>
            <a:off x="548640" y="5440680"/>
            <a:ext cx="27736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0F2A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6 years</a:t>
            </a:r>
            <a:endParaRPr lang="en-US" sz="2200" dirty="0"/>
          </a:p>
        </p:txBody>
      </p:sp>
      <p:sp>
        <p:nvSpPr>
          <p:cNvPr id="20" name="Text 16"/>
          <p:cNvSpPr/>
          <p:nvPr/>
        </p:nvSpPr>
        <p:spPr>
          <a:xfrm>
            <a:off x="548640" y="5897880"/>
            <a:ext cx="277360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daily history</a:t>
            </a:r>
            <a:endParaRPr lang="en-US" sz="1100" dirty="0"/>
          </a:p>
        </p:txBody>
      </p:sp>
      <p:sp>
        <p:nvSpPr>
          <p:cNvPr id="21" name="Text 17"/>
          <p:cNvSpPr/>
          <p:nvPr/>
        </p:nvSpPr>
        <p:spPr>
          <a:xfrm>
            <a:off x="3322244" y="5440680"/>
            <a:ext cx="27736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0F2A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2,192 days</a:t>
            </a:r>
            <a:endParaRPr lang="en-US" sz="2200" dirty="0"/>
          </a:p>
        </p:txBody>
      </p:sp>
      <p:sp>
        <p:nvSpPr>
          <p:cNvPr id="22" name="Text 18"/>
          <p:cNvSpPr/>
          <p:nvPr/>
        </p:nvSpPr>
        <p:spPr>
          <a:xfrm>
            <a:off x="3322244" y="5897880"/>
            <a:ext cx="277360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observations</a:t>
            </a:r>
            <a:endParaRPr lang="en-US" sz="1100" dirty="0"/>
          </a:p>
        </p:txBody>
      </p:sp>
      <p:sp>
        <p:nvSpPr>
          <p:cNvPr id="23" name="Text 19"/>
          <p:cNvSpPr/>
          <p:nvPr/>
        </p:nvSpPr>
        <p:spPr>
          <a:xfrm>
            <a:off x="6095848" y="5440680"/>
            <a:ext cx="27736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0F2A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Houston</a:t>
            </a:r>
            <a:endParaRPr lang="en-US" sz="2200" dirty="0"/>
          </a:p>
        </p:txBody>
      </p:sp>
      <p:sp>
        <p:nvSpPr>
          <p:cNvPr id="24" name="Text 20"/>
          <p:cNvSpPr/>
          <p:nvPr/>
        </p:nvSpPr>
        <p:spPr>
          <a:xfrm>
            <a:off x="6095848" y="5897880"/>
            <a:ext cx="277360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Harris County, TX</a:t>
            </a:r>
            <a:endParaRPr lang="en-US" sz="1100" dirty="0"/>
          </a:p>
        </p:txBody>
      </p:sp>
      <p:sp>
        <p:nvSpPr>
          <p:cNvPr id="25" name="Text 21"/>
          <p:cNvSpPr/>
          <p:nvPr/>
        </p:nvSpPr>
        <p:spPr>
          <a:xfrm>
            <a:off x="8869451" y="5440680"/>
            <a:ext cx="27736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0F2A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Two domains</a:t>
            </a:r>
            <a:endParaRPr lang="en-US" sz="2200" dirty="0"/>
          </a:p>
        </p:txBody>
      </p:sp>
      <p:sp>
        <p:nvSpPr>
          <p:cNvPr id="26" name="Text 22"/>
          <p:cNvSpPr/>
          <p:nvPr/>
        </p:nvSpPr>
        <p:spPr>
          <a:xfrm>
            <a:off x="8869451" y="5897880"/>
            <a:ext cx="277360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pollution + weather</a:t>
            </a:r>
            <a:endParaRPr lang="en-US" sz="1100" dirty="0"/>
          </a:p>
        </p:txBody>
      </p:sp>
      <p:sp>
        <p:nvSpPr>
          <p:cNvPr id="27" name="Text 23"/>
          <p:cNvSpPr/>
          <p:nvPr/>
        </p:nvSpPr>
        <p:spPr>
          <a:xfrm>
            <a:off x="457200" y="644652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Houston AQI Forecast  ·  Next-day classifier</a:t>
            </a:r>
            <a:endParaRPr lang="en-US" sz="1000" dirty="0"/>
          </a:p>
        </p:txBody>
      </p:sp>
      <p:sp>
        <p:nvSpPr>
          <p:cNvPr id="28" name="Text 24"/>
          <p:cNvSpPr/>
          <p:nvPr/>
        </p:nvSpPr>
        <p:spPr>
          <a:xfrm>
            <a:off x="1127729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/ 11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365760" cy="365760"/>
          </a:xfrm>
          <a:prstGeom prst="ellipse">
            <a:avLst/>
          </a:prstGeom>
          <a:solidFill>
            <a:srgbClr val="1C7293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1005840" y="41148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kern="0" spc="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PIPELINE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548640" y="96012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0F2A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How we got from raw data to a forecast.</a:t>
            </a:r>
            <a:endParaRPr lang="en-US" sz="3600" dirty="0"/>
          </a:p>
        </p:txBody>
      </p:sp>
      <p:sp>
        <p:nvSpPr>
          <p:cNvPr id="5" name="Shape 3"/>
          <p:cNvSpPr/>
          <p:nvPr/>
        </p:nvSpPr>
        <p:spPr>
          <a:xfrm>
            <a:off x="1112368" y="2011680"/>
            <a:ext cx="502920" cy="502920"/>
          </a:xfrm>
          <a:prstGeom prst="ellipse">
            <a:avLst/>
          </a:prstGeom>
          <a:solidFill>
            <a:srgbClr val="0F2A4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1112368" y="20116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72288" y="2606040"/>
            <a:ext cx="1783080" cy="2514600"/>
          </a:xfrm>
          <a:prstGeom prst="rect">
            <a:avLst/>
          </a:prstGeom>
          <a:solidFill>
            <a:srgbClr val="E8EEF3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8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3788" y="2926080"/>
            <a:ext cx="640080" cy="640080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609448" y="3703320"/>
            <a:ext cx="1508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0F2A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Load</a:t>
            </a:r>
            <a:endParaRPr lang="en-US" sz="1800" dirty="0"/>
          </a:p>
        </p:txBody>
      </p:sp>
      <p:sp>
        <p:nvSpPr>
          <p:cNvPr id="10" name="Text 7"/>
          <p:cNvSpPr/>
          <p:nvPr/>
        </p:nvSpPr>
        <p:spPr>
          <a:xfrm>
            <a:off x="655168" y="4114800"/>
            <a:ext cx="1417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Pull EPA + weather data via public APIs and merge on date.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2127352" y="3611880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&gt;</a:t>
            </a:r>
            <a:endParaRPr lang="en-US" sz="2200" dirty="0"/>
          </a:p>
        </p:txBody>
      </p:sp>
      <p:sp>
        <p:nvSpPr>
          <p:cNvPr id="12" name="Shape 9"/>
          <p:cNvSpPr/>
          <p:nvPr/>
        </p:nvSpPr>
        <p:spPr>
          <a:xfrm>
            <a:off x="3005176" y="2011680"/>
            <a:ext cx="502920" cy="502920"/>
          </a:xfrm>
          <a:prstGeom prst="ellipse">
            <a:avLst/>
          </a:prstGeom>
          <a:solidFill>
            <a:srgbClr val="0F2A4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Text 10"/>
          <p:cNvSpPr/>
          <p:nvPr/>
        </p:nvSpPr>
        <p:spPr>
          <a:xfrm>
            <a:off x="3005176" y="20116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400" dirty="0"/>
          </a:p>
        </p:txBody>
      </p:sp>
      <p:sp>
        <p:nvSpPr>
          <p:cNvPr id="14" name="Shape 11"/>
          <p:cNvSpPr/>
          <p:nvPr/>
        </p:nvSpPr>
        <p:spPr>
          <a:xfrm>
            <a:off x="2365096" y="2606040"/>
            <a:ext cx="1783080" cy="2514600"/>
          </a:xfrm>
          <a:prstGeom prst="rect">
            <a:avLst/>
          </a:prstGeom>
          <a:solidFill>
            <a:srgbClr val="E8EEF3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5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936596" y="2926080"/>
            <a:ext cx="640080" cy="640080"/>
          </a:xfrm>
          <a:prstGeom prst="rect">
            <a:avLst/>
          </a:prstGeom>
        </p:spPr>
      </p:pic>
      <p:sp>
        <p:nvSpPr>
          <p:cNvPr id="16" name="Text 12"/>
          <p:cNvSpPr/>
          <p:nvPr/>
        </p:nvSpPr>
        <p:spPr>
          <a:xfrm>
            <a:off x="2502256" y="3703320"/>
            <a:ext cx="1508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0F2A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Clean</a:t>
            </a:r>
            <a:endParaRPr lang="en-US" sz="1800" dirty="0"/>
          </a:p>
        </p:txBody>
      </p:sp>
      <p:sp>
        <p:nvSpPr>
          <p:cNvPr id="17" name="Text 13"/>
          <p:cNvSpPr/>
          <p:nvPr/>
        </p:nvSpPr>
        <p:spPr>
          <a:xfrm>
            <a:off x="2547976" y="4114800"/>
            <a:ext cx="1417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Reindex to a continuous daily series; fill any gaps carefully.</a:t>
            </a:r>
            <a:endParaRPr lang="en-US" sz="1100" dirty="0"/>
          </a:p>
        </p:txBody>
      </p:sp>
      <p:sp>
        <p:nvSpPr>
          <p:cNvPr id="18" name="Text 14"/>
          <p:cNvSpPr/>
          <p:nvPr/>
        </p:nvSpPr>
        <p:spPr>
          <a:xfrm>
            <a:off x="4020160" y="3611880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&gt;</a:t>
            </a:r>
            <a:endParaRPr lang="en-US" sz="2200" dirty="0"/>
          </a:p>
        </p:txBody>
      </p:sp>
      <p:sp>
        <p:nvSpPr>
          <p:cNvPr id="19" name="Shape 15"/>
          <p:cNvSpPr/>
          <p:nvPr/>
        </p:nvSpPr>
        <p:spPr>
          <a:xfrm>
            <a:off x="4897984" y="2011680"/>
            <a:ext cx="502920" cy="502920"/>
          </a:xfrm>
          <a:prstGeom prst="ellipse">
            <a:avLst/>
          </a:prstGeom>
          <a:solidFill>
            <a:srgbClr val="0F2A4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0" name="Text 16"/>
          <p:cNvSpPr/>
          <p:nvPr/>
        </p:nvSpPr>
        <p:spPr>
          <a:xfrm>
            <a:off x="4897984" y="20116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400" dirty="0"/>
          </a:p>
        </p:txBody>
      </p:sp>
      <p:sp>
        <p:nvSpPr>
          <p:cNvPr id="21" name="Shape 17"/>
          <p:cNvSpPr/>
          <p:nvPr/>
        </p:nvSpPr>
        <p:spPr>
          <a:xfrm>
            <a:off x="4257904" y="2606040"/>
            <a:ext cx="1783080" cy="2514600"/>
          </a:xfrm>
          <a:prstGeom prst="rect">
            <a:avLst/>
          </a:prstGeom>
          <a:solidFill>
            <a:srgbClr val="E8EEF3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22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829404" y="2926080"/>
            <a:ext cx="640080" cy="640080"/>
          </a:xfrm>
          <a:prstGeom prst="rect">
            <a:avLst/>
          </a:prstGeom>
        </p:spPr>
      </p:pic>
      <p:sp>
        <p:nvSpPr>
          <p:cNvPr id="23" name="Text 18"/>
          <p:cNvSpPr/>
          <p:nvPr/>
        </p:nvSpPr>
        <p:spPr>
          <a:xfrm>
            <a:off x="4395064" y="3703320"/>
            <a:ext cx="1508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0F2A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Engineer</a:t>
            </a:r>
            <a:endParaRPr lang="en-US" sz="1800" dirty="0"/>
          </a:p>
        </p:txBody>
      </p:sp>
      <p:sp>
        <p:nvSpPr>
          <p:cNvPr id="24" name="Text 19"/>
          <p:cNvSpPr/>
          <p:nvPr/>
        </p:nvSpPr>
        <p:spPr>
          <a:xfrm>
            <a:off x="4440784" y="4114800"/>
            <a:ext cx="1417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lag, rolling, trend, weather, calendar, and pollutant features.</a:t>
            </a:r>
            <a:endParaRPr lang="en-US" sz="1100" dirty="0"/>
          </a:p>
        </p:txBody>
      </p:sp>
      <p:sp>
        <p:nvSpPr>
          <p:cNvPr id="25" name="Text 20"/>
          <p:cNvSpPr/>
          <p:nvPr/>
        </p:nvSpPr>
        <p:spPr>
          <a:xfrm>
            <a:off x="5912968" y="3611880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&gt;</a:t>
            </a:r>
            <a:endParaRPr lang="en-US" sz="2200" dirty="0"/>
          </a:p>
        </p:txBody>
      </p:sp>
      <p:sp>
        <p:nvSpPr>
          <p:cNvPr id="26" name="Shape 21"/>
          <p:cNvSpPr/>
          <p:nvPr/>
        </p:nvSpPr>
        <p:spPr>
          <a:xfrm>
            <a:off x="6790792" y="2011680"/>
            <a:ext cx="502920" cy="502920"/>
          </a:xfrm>
          <a:prstGeom prst="ellipse">
            <a:avLst/>
          </a:prstGeom>
          <a:solidFill>
            <a:srgbClr val="0F2A4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7" name="Text 22"/>
          <p:cNvSpPr/>
          <p:nvPr/>
        </p:nvSpPr>
        <p:spPr>
          <a:xfrm>
            <a:off x="6790792" y="20116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400" dirty="0"/>
          </a:p>
        </p:txBody>
      </p:sp>
      <p:sp>
        <p:nvSpPr>
          <p:cNvPr id="28" name="Shape 23"/>
          <p:cNvSpPr/>
          <p:nvPr/>
        </p:nvSpPr>
        <p:spPr>
          <a:xfrm>
            <a:off x="6150712" y="2606040"/>
            <a:ext cx="1783080" cy="2514600"/>
          </a:xfrm>
          <a:prstGeom prst="rect">
            <a:avLst/>
          </a:prstGeom>
          <a:solidFill>
            <a:srgbClr val="E8EEF3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29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722212" y="2926080"/>
            <a:ext cx="640080" cy="640080"/>
          </a:xfrm>
          <a:prstGeom prst="rect">
            <a:avLst/>
          </a:prstGeom>
        </p:spPr>
      </p:pic>
      <p:sp>
        <p:nvSpPr>
          <p:cNvPr id="30" name="Text 24"/>
          <p:cNvSpPr/>
          <p:nvPr/>
        </p:nvSpPr>
        <p:spPr>
          <a:xfrm>
            <a:off x="6287872" y="3703320"/>
            <a:ext cx="1508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0F2A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Train</a:t>
            </a:r>
            <a:endParaRPr lang="en-US" sz="1800" dirty="0"/>
          </a:p>
        </p:txBody>
      </p:sp>
      <p:sp>
        <p:nvSpPr>
          <p:cNvPr id="31" name="Text 25"/>
          <p:cNvSpPr/>
          <p:nvPr/>
        </p:nvSpPr>
        <p:spPr>
          <a:xfrm>
            <a:off x="6333592" y="4114800"/>
            <a:ext cx="1417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model families compared: linear, random forest, gradient boosting.</a:t>
            </a:r>
            <a:endParaRPr lang="en-US" sz="1100" dirty="0"/>
          </a:p>
        </p:txBody>
      </p:sp>
      <p:sp>
        <p:nvSpPr>
          <p:cNvPr id="32" name="Text 26"/>
          <p:cNvSpPr/>
          <p:nvPr/>
        </p:nvSpPr>
        <p:spPr>
          <a:xfrm>
            <a:off x="7805776" y="3611880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&gt;</a:t>
            </a:r>
            <a:endParaRPr lang="en-US" sz="2200" dirty="0"/>
          </a:p>
        </p:txBody>
      </p:sp>
      <p:sp>
        <p:nvSpPr>
          <p:cNvPr id="33" name="Shape 27"/>
          <p:cNvSpPr/>
          <p:nvPr/>
        </p:nvSpPr>
        <p:spPr>
          <a:xfrm>
            <a:off x="8683600" y="2011680"/>
            <a:ext cx="502920" cy="502920"/>
          </a:xfrm>
          <a:prstGeom prst="ellipse">
            <a:avLst/>
          </a:prstGeom>
          <a:solidFill>
            <a:srgbClr val="0F2A4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4" name="Text 28"/>
          <p:cNvSpPr/>
          <p:nvPr/>
        </p:nvSpPr>
        <p:spPr>
          <a:xfrm>
            <a:off x="8683600" y="20116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400" dirty="0"/>
          </a:p>
        </p:txBody>
      </p:sp>
      <p:sp>
        <p:nvSpPr>
          <p:cNvPr id="35" name="Shape 29"/>
          <p:cNvSpPr/>
          <p:nvPr/>
        </p:nvSpPr>
        <p:spPr>
          <a:xfrm>
            <a:off x="8043520" y="2606040"/>
            <a:ext cx="1783080" cy="2514600"/>
          </a:xfrm>
          <a:prstGeom prst="rect">
            <a:avLst/>
          </a:prstGeom>
          <a:solidFill>
            <a:srgbClr val="E8EEF3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36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615020" y="2926080"/>
            <a:ext cx="640080" cy="640080"/>
          </a:xfrm>
          <a:prstGeom prst="rect">
            <a:avLst/>
          </a:prstGeom>
        </p:spPr>
      </p:pic>
      <p:sp>
        <p:nvSpPr>
          <p:cNvPr id="37" name="Text 30"/>
          <p:cNvSpPr/>
          <p:nvPr/>
        </p:nvSpPr>
        <p:spPr>
          <a:xfrm>
            <a:off x="8180680" y="3703320"/>
            <a:ext cx="1508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0F2A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Tune</a:t>
            </a:r>
            <a:endParaRPr lang="en-US" sz="1800" dirty="0"/>
          </a:p>
        </p:txBody>
      </p:sp>
      <p:sp>
        <p:nvSpPr>
          <p:cNvPr id="38" name="Text 31"/>
          <p:cNvSpPr/>
          <p:nvPr/>
        </p:nvSpPr>
        <p:spPr>
          <a:xfrm>
            <a:off x="8226400" y="4114800"/>
            <a:ext cx="1417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Hyperparameter search with time-series-aware cross-validation.</a:t>
            </a:r>
            <a:endParaRPr lang="en-US" sz="1100" dirty="0"/>
          </a:p>
        </p:txBody>
      </p:sp>
      <p:sp>
        <p:nvSpPr>
          <p:cNvPr id="39" name="Text 32"/>
          <p:cNvSpPr/>
          <p:nvPr/>
        </p:nvSpPr>
        <p:spPr>
          <a:xfrm>
            <a:off x="9698584" y="3611880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&gt;</a:t>
            </a:r>
            <a:endParaRPr lang="en-US" sz="2200" dirty="0"/>
          </a:p>
        </p:txBody>
      </p:sp>
      <p:sp>
        <p:nvSpPr>
          <p:cNvPr id="40" name="Shape 33"/>
          <p:cNvSpPr/>
          <p:nvPr/>
        </p:nvSpPr>
        <p:spPr>
          <a:xfrm>
            <a:off x="10576408" y="2011680"/>
            <a:ext cx="502920" cy="502920"/>
          </a:xfrm>
          <a:prstGeom prst="ellipse">
            <a:avLst/>
          </a:prstGeom>
          <a:solidFill>
            <a:srgbClr val="0F2A4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1" name="Text 34"/>
          <p:cNvSpPr/>
          <p:nvPr/>
        </p:nvSpPr>
        <p:spPr>
          <a:xfrm>
            <a:off x="10576408" y="20116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1400" dirty="0"/>
          </a:p>
        </p:txBody>
      </p:sp>
      <p:sp>
        <p:nvSpPr>
          <p:cNvPr id="42" name="Shape 35"/>
          <p:cNvSpPr/>
          <p:nvPr/>
        </p:nvSpPr>
        <p:spPr>
          <a:xfrm>
            <a:off x="9936328" y="2606040"/>
            <a:ext cx="1783080" cy="2514600"/>
          </a:xfrm>
          <a:prstGeom prst="rect">
            <a:avLst/>
          </a:prstGeom>
          <a:solidFill>
            <a:srgbClr val="E8EEF3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43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507828" y="2926080"/>
            <a:ext cx="640080" cy="640080"/>
          </a:xfrm>
          <a:prstGeom prst="rect">
            <a:avLst/>
          </a:prstGeom>
        </p:spPr>
      </p:pic>
      <p:sp>
        <p:nvSpPr>
          <p:cNvPr id="44" name="Text 36"/>
          <p:cNvSpPr/>
          <p:nvPr/>
        </p:nvSpPr>
        <p:spPr>
          <a:xfrm>
            <a:off x="10073488" y="3703320"/>
            <a:ext cx="1508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0F2A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Deploy</a:t>
            </a:r>
            <a:endParaRPr lang="en-US" sz="1800" dirty="0"/>
          </a:p>
        </p:txBody>
      </p:sp>
      <p:sp>
        <p:nvSpPr>
          <p:cNvPr id="45" name="Text 37"/>
          <p:cNvSpPr/>
          <p:nvPr/>
        </p:nvSpPr>
        <p:spPr>
          <a:xfrm>
            <a:off x="10119208" y="4114800"/>
            <a:ext cx="1417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Wrap the model in a prediction function with a watch-tier safety net.</a:t>
            </a:r>
            <a:endParaRPr lang="en-US" sz="1100" dirty="0"/>
          </a:p>
        </p:txBody>
      </p:sp>
      <p:sp>
        <p:nvSpPr>
          <p:cNvPr id="46" name="Text 38"/>
          <p:cNvSpPr/>
          <p:nvPr/>
        </p:nvSpPr>
        <p:spPr>
          <a:xfrm>
            <a:off x="548640" y="585216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i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step was validated honestly: time-based splits, no leakage, diagnostics before declaring success.</a:t>
            </a:r>
            <a:endParaRPr lang="en-US" sz="1300" dirty="0"/>
          </a:p>
        </p:txBody>
      </p:sp>
      <p:sp>
        <p:nvSpPr>
          <p:cNvPr id="47" name="Text 39"/>
          <p:cNvSpPr/>
          <p:nvPr/>
        </p:nvSpPr>
        <p:spPr>
          <a:xfrm>
            <a:off x="457200" y="644652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Houston AQI Forecast  ·  Next-day classifier</a:t>
            </a:r>
            <a:endParaRPr lang="en-US" sz="1000" dirty="0"/>
          </a:p>
        </p:txBody>
      </p:sp>
      <p:sp>
        <p:nvSpPr>
          <p:cNvPr id="48" name="Text 40"/>
          <p:cNvSpPr/>
          <p:nvPr/>
        </p:nvSpPr>
        <p:spPr>
          <a:xfrm>
            <a:off x="1127729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/ 11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>
            <a:extLst>
              <a:ext uri="{FF2B5EF4-FFF2-40B4-BE49-F238E27FC236}">
                <a16:creationId xmlns:a16="http://schemas.microsoft.com/office/drawing/2014/main" id="{2BD5D665-8780-C10A-CDF4-9B16710B9F0C}"/>
              </a:ext>
            </a:extLst>
          </p:cNvPr>
          <p:cNvSpPr/>
          <p:nvPr/>
        </p:nvSpPr>
        <p:spPr>
          <a:xfrm>
            <a:off x="548640" y="96012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IN" sz="3600" b="1" dirty="0">
                <a:solidFill>
                  <a:srgbClr val="0F2A47"/>
                </a:solidFill>
                <a:latin typeface="Georgia" pitchFamily="34" charset="0"/>
              </a:rPr>
              <a:t>Transforming raw data into a usable format</a:t>
            </a:r>
            <a:endParaRPr lang="en-US" sz="3600" b="1" dirty="0">
              <a:solidFill>
                <a:srgbClr val="0F2A47"/>
              </a:solidFill>
              <a:latin typeface="Georgia" pitchFamily="34" charset="0"/>
            </a:endParaRPr>
          </a:p>
        </p:txBody>
      </p:sp>
      <p:graphicFrame>
        <p:nvGraphicFramePr>
          <p:cNvPr id="6" name="Diagram 5">
            <a:extLst>
              <a:ext uri="{FF2B5EF4-FFF2-40B4-BE49-F238E27FC236}">
                <a16:creationId xmlns:a16="http://schemas.microsoft.com/office/drawing/2014/main" id="{6C76F4BA-4CD2-59E4-4214-E0541B360600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598222803"/>
              </p:ext>
            </p:extLst>
          </p:nvPr>
        </p:nvGraphicFramePr>
        <p:xfrm>
          <a:off x="-738799" y="2006220"/>
          <a:ext cx="6834799" cy="4302695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pic>
        <p:nvPicPr>
          <p:cNvPr id="8" name="Picture 7">
            <a:extLst>
              <a:ext uri="{FF2B5EF4-FFF2-40B4-BE49-F238E27FC236}">
                <a16:creationId xmlns:a16="http://schemas.microsoft.com/office/drawing/2014/main" id="{3938523A-2A8D-CFD6-1842-5AA5312308E1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610293" y="1707925"/>
            <a:ext cx="6318952" cy="4547982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7FB706D7-C62E-8805-CC76-052A26D5619E}"/>
              </a:ext>
            </a:extLst>
          </p:cNvPr>
          <p:cNvSpPr txBox="1"/>
          <p:nvPr/>
        </p:nvSpPr>
        <p:spPr>
          <a:xfrm>
            <a:off x="6021788" y="6292815"/>
            <a:ext cx="6114174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sz="800" b="1" i="1" dirty="0"/>
              <a:t>AQI changes over time, while temperature shows seasonal patterns. Most days are Moderate, but harmful USG+ days still appear as spikes.</a:t>
            </a:r>
            <a:endParaRPr lang="en-IN" sz="800" i="1" dirty="0"/>
          </a:p>
          <a:p>
            <a:endParaRPr lang="en-US" sz="800" i="1" dirty="0"/>
          </a:p>
        </p:txBody>
      </p:sp>
      <p:sp>
        <p:nvSpPr>
          <p:cNvPr id="10" name="Shape 0">
            <a:extLst>
              <a:ext uri="{FF2B5EF4-FFF2-40B4-BE49-F238E27FC236}">
                <a16:creationId xmlns:a16="http://schemas.microsoft.com/office/drawing/2014/main" id="{9FC0AFBB-F1FC-1374-0DF3-E157AC0AB1C9}"/>
              </a:ext>
            </a:extLst>
          </p:cNvPr>
          <p:cNvSpPr/>
          <p:nvPr/>
        </p:nvSpPr>
        <p:spPr>
          <a:xfrm>
            <a:off x="548640" y="457200"/>
            <a:ext cx="365760" cy="365760"/>
          </a:xfrm>
          <a:prstGeom prst="ellipse">
            <a:avLst/>
          </a:prstGeom>
          <a:solidFill>
            <a:srgbClr val="1C7293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Text 1">
            <a:extLst>
              <a:ext uri="{FF2B5EF4-FFF2-40B4-BE49-F238E27FC236}">
                <a16:creationId xmlns:a16="http://schemas.microsoft.com/office/drawing/2014/main" id="{51DC963C-F435-3144-AA48-9940D2164CC3}"/>
              </a:ext>
            </a:extLst>
          </p:cNvPr>
          <p:cNvSpPr/>
          <p:nvPr/>
        </p:nvSpPr>
        <p:spPr>
          <a:xfrm>
            <a:off x="1005840" y="41148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kern="0" spc="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PREPROCESSING</a:t>
            </a:r>
            <a:endParaRPr lang="en-US" sz="1400" dirty="0"/>
          </a:p>
        </p:txBody>
      </p:sp>
      <p:sp>
        <p:nvSpPr>
          <p:cNvPr id="12" name="Text 27">
            <a:extLst>
              <a:ext uri="{FF2B5EF4-FFF2-40B4-BE49-F238E27FC236}">
                <a16:creationId xmlns:a16="http://schemas.microsoft.com/office/drawing/2014/main" id="{3A092076-A9EE-2607-C3B2-8566D5DB27AC}"/>
              </a:ext>
            </a:extLst>
          </p:cNvPr>
          <p:cNvSpPr/>
          <p:nvPr/>
        </p:nvSpPr>
        <p:spPr>
          <a:xfrm>
            <a:off x="1127729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7/11</a:t>
            </a:r>
            <a:endParaRPr lang="en-US" sz="1000" dirty="0"/>
          </a:p>
        </p:txBody>
      </p:sp>
    </p:spTree>
    <p:extLst>
      <p:ext uri="{BB962C8B-B14F-4D97-AF65-F5344CB8AC3E}">
        <p14:creationId xmlns:p14="http://schemas.microsoft.com/office/powerpoint/2010/main" val="297970247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365760" cy="365760"/>
          </a:xfrm>
          <a:prstGeom prst="ellipse">
            <a:avLst/>
          </a:prstGeom>
          <a:solidFill>
            <a:srgbClr val="1C7293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1005840" y="41148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kern="0" spc="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MODELS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548640" y="96012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0F2A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Three model families, three different bets.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548640" y="1691640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compared models with very different assumptions to see which best fits this problem.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444856" y="2468880"/>
            <a:ext cx="3657600" cy="3291840"/>
          </a:xfrm>
          <a:prstGeom prst="rect">
            <a:avLst/>
          </a:prstGeom>
          <a:solidFill>
            <a:srgbClr val="E8EEF3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444856" y="2468880"/>
            <a:ext cx="3657600" cy="73152"/>
          </a:xfrm>
          <a:prstGeom prst="rect">
            <a:avLst/>
          </a:prstGeom>
          <a:solidFill>
            <a:srgbClr val="1C7293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764896" y="2743200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50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764896" y="3063240"/>
            <a:ext cx="30175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b="1" dirty="0">
                <a:solidFill>
                  <a:srgbClr val="0F2A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Logistic Regression</a:t>
            </a:r>
            <a:endParaRPr lang="en-US" sz="2200" dirty="0"/>
          </a:p>
        </p:txBody>
      </p:sp>
      <p:sp>
        <p:nvSpPr>
          <p:cNvPr id="10" name="Shape 8"/>
          <p:cNvSpPr/>
          <p:nvPr/>
        </p:nvSpPr>
        <p:spPr>
          <a:xfrm>
            <a:off x="764896" y="4069080"/>
            <a:ext cx="109728" cy="109728"/>
          </a:xfrm>
          <a:prstGeom prst="ellipse">
            <a:avLst/>
          </a:prstGeom>
          <a:solidFill>
            <a:srgbClr val="1C7293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947776" y="3918204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0F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Linear decision boundaries.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764896" y="4572000"/>
            <a:ext cx="30175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simple, interpretable starting point. Fast to train and easy to reason about — perfect for setting a floor.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267048" y="2468880"/>
            <a:ext cx="3657600" cy="3291840"/>
          </a:xfrm>
          <a:prstGeom prst="rect">
            <a:avLst/>
          </a:prstGeom>
          <a:solidFill>
            <a:srgbClr val="E8EEF3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" name="Shape 12"/>
          <p:cNvSpPr/>
          <p:nvPr/>
        </p:nvSpPr>
        <p:spPr>
          <a:xfrm>
            <a:off x="4267048" y="2468880"/>
            <a:ext cx="3657600" cy="73152"/>
          </a:xfrm>
          <a:prstGeom prst="rect">
            <a:avLst/>
          </a:prstGeom>
          <a:solidFill>
            <a:srgbClr val="065A8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4587088" y="2743200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500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ENSEMBLE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4587088" y="3063240"/>
            <a:ext cx="30175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b="1" dirty="0">
                <a:solidFill>
                  <a:srgbClr val="0F2A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Random Forest</a:t>
            </a:r>
            <a:endParaRPr lang="en-US" sz="2200" dirty="0"/>
          </a:p>
        </p:txBody>
      </p:sp>
      <p:sp>
        <p:nvSpPr>
          <p:cNvPr id="17" name="Shape 15"/>
          <p:cNvSpPr/>
          <p:nvPr/>
        </p:nvSpPr>
        <p:spPr>
          <a:xfrm>
            <a:off x="4587088" y="4069080"/>
            <a:ext cx="109728" cy="109728"/>
          </a:xfrm>
          <a:prstGeom prst="ellipse">
            <a:avLst/>
          </a:prstGeom>
          <a:solidFill>
            <a:srgbClr val="065A8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4789673" y="3907128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0F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Many independent decision trees.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4587088" y="4572000"/>
            <a:ext cx="30175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Captures nonlinear interactions automatically. Robust to noise and outliers, hard to overfit catastrophically.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8089240" y="2468880"/>
            <a:ext cx="3657600" cy="3291840"/>
          </a:xfrm>
          <a:prstGeom prst="rect">
            <a:avLst/>
          </a:prstGeom>
          <a:solidFill>
            <a:srgbClr val="E8EEF3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1" name="Shape 19"/>
          <p:cNvSpPr/>
          <p:nvPr/>
        </p:nvSpPr>
        <p:spPr>
          <a:xfrm>
            <a:off x="8089240" y="2468880"/>
            <a:ext cx="3657600" cy="73152"/>
          </a:xfrm>
          <a:prstGeom prst="rect">
            <a:avLst/>
          </a:prstGeom>
          <a:solidFill>
            <a:srgbClr val="1C7293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2" name="Text 20"/>
          <p:cNvSpPr/>
          <p:nvPr/>
        </p:nvSpPr>
        <p:spPr>
          <a:xfrm>
            <a:off x="8409280" y="2743200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50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BOOSTING</a:t>
            </a:r>
            <a:endParaRPr lang="en-US" sz="1100" dirty="0">
              <a:solidFill>
                <a:srgbClr val="1C7293"/>
              </a:solidFill>
            </a:endParaRPr>
          </a:p>
        </p:txBody>
      </p:sp>
      <p:sp>
        <p:nvSpPr>
          <p:cNvPr id="23" name="Text 21"/>
          <p:cNvSpPr/>
          <p:nvPr/>
        </p:nvSpPr>
        <p:spPr>
          <a:xfrm>
            <a:off x="8409280" y="3063240"/>
            <a:ext cx="30175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b="1" dirty="0">
                <a:solidFill>
                  <a:srgbClr val="0F2A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LightGBM</a:t>
            </a:r>
            <a:endParaRPr lang="en-US" sz="2200" dirty="0"/>
          </a:p>
        </p:txBody>
      </p:sp>
      <p:sp>
        <p:nvSpPr>
          <p:cNvPr id="24" name="Shape 22"/>
          <p:cNvSpPr/>
          <p:nvPr/>
        </p:nvSpPr>
        <p:spPr>
          <a:xfrm>
            <a:off x="8409280" y="4069080"/>
            <a:ext cx="109728" cy="109728"/>
          </a:xfrm>
          <a:prstGeom prst="ellipse">
            <a:avLst/>
          </a:prstGeom>
          <a:solidFill>
            <a:srgbClr val="1C7293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5" name="Text 23"/>
          <p:cNvSpPr/>
          <p:nvPr/>
        </p:nvSpPr>
        <p:spPr>
          <a:xfrm>
            <a:off x="8592160" y="3973068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0F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Trees that learn from each other's mistakes.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8409280" y="4572000"/>
            <a:ext cx="30175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Sequentially fits trees to fix prior errors. Usually the strongest performer on structured tabular data.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548640" y="598932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i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one tells us something different — together they bracket what's actually possible on this problem.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457200" y="644652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Houston AQI Forecast  ·  Next-day classifier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1127729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/ 11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365760" cy="365760"/>
          </a:xfrm>
          <a:prstGeom prst="ellipse">
            <a:avLst/>
          </a:prstGeom>
          <a:solidFill>
            <a:srgbClr val="1C7293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1005840" y="41148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kern="0" spc="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 ENGINEERING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548640" y="96012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800" b="1" dirty="0">
                <a:solidFill>
                  <a:srgbClr val="0F2A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 does the model see?</a:t>
            </a:r>
            <a:endParaRPr lang="en-US" sz="3800" dirty="0"/>
          </a:p>
        </p:txBody>
      </p:sp>
      <p:sp>
        <p:nvSpPr>
          <p:cNvPr id="5" name="Text 3"/>
          <p:cNvSpPr/>
          <p:nvPr/>
        </p:nvSpPr>
        <p:spPr>
          <a:xfrm>
            <a:off x="548640" y="1828800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Goal is to capture patterns affecting air quality</a:t>
            </a:r>
            <a:endParaRPr lang="en-US" sz="1700" i="1" dirty="0"/>
          </a:p>
        </p:txBody>
      </p:sp>
      <p:sp>
        <p:nvSpPr>
          <p:cNvPr id="6" name="Shape 4"/>
          <p:cNvSpPr/>
          <p:nvPr/>
        </p:nvSpPr>
        <p:spPr>
          <a:xfrm>
            <a:off x="655168" y="2743200"/>
            <a:ext cx="5349240" cy="1783080"/>
          </a:xfrm>
          <a:prstGeom prst="rect">
            <a:avLst/>
          </a:prstGeom>
          <a:solidFill>
            <a:srgbClr val="E8EEF3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655168" y="2743200"/>
            <a:ext cx="73152" cy="1783080"/>
          </a:xfrm>
          <a:prstGeom prst="rect">
            <a:avLst/>
          </a:prstGeom>
          <a:solidFill>
            <a:srgbClr val="1C7293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Shape 6"/>
          <p:cNvSpPr/>
          <p:nvPr/>
        </p:nvSpPr>
        <p:spPr>
          <a:xfrm>
            <a:off x="975208" y="3063240"/>
            <a:ext cx="640080" cy="64008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C729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9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12368" y="3200400"/>
            <a:ext cx="365760" cy="365760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1725016" y="3154680"/>
            <a:ext cx="3977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0F2A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History</a:t>
            </a:r>
            <a:endParaRPr lang="en-US" sz="2200" dirty="0"/>
          </a:p>
        </p:txBody>
      </p:sp>
      <p:sp>
        <p:nvSpPr>
          <p:cNvPr id="11" name="Text 8"/>
          <p:cNvSpPr/>
          <p:nvPr/>
        </p:nvSpPr>
        <p:spPr>
          <a:xfrm>
            <a:off x="1020928" y="3657600"/>
            <a:ext cx="4800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Yesterday, 2-day, and 7-day AQI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3- and 7-day rolling averages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Volatility over the past week</a:t>
            </a:r>
            <a:endParaRPr lang="en-US" sz="1300" dirty="0"/>
          </a:p>
        </p:txBody>
      </p:sp>
      <p:sp>
        <p:nvSpPr>
          <p:cNvPr id="12" name="Shape 9"/>
          <p:cNvSpPr/>
          <p:nvPr/>
        </p:nvSpPr>
        <p:spPr>
          <a:xfrm>
            <a:off x="6187288" y="2743200"/>
            <a:ext cx="5349240" cy="1783080"/>
          </a:xfrm>
          <a:prstGeom prst="rect">
            <a:avLst/>
          </a:prstGeom>
          <a:solidFill>
            <a:srgbClr val="E8EEF3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" name="Shape 11"/>
          <p:cNvSpPr/>
          <p:nvPr/>
        </p:nvSpPr>
        <p:spPr>
          <a:xfrm>
            <a:off x="6507328" y="3063240"/>
            <a:ext cx="640080" cy="640080"/>
          </a:xfrm>
          <a:prstGeom prst="ellipse">
            <a:avLst/>
          </a:prstGeom>
          <a:solidFill>
            <a:srgbClr val="FFFFFF"/>
          </a:solidFill>
          <a:ln w="19050">
            <a:solidFill>
              <a:schemeClr val="accent1">
                <a:lumMod val="75000"/>
              </a:scheme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15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44488" y="3200400"/>
            <a:ext cx="365760" cy="365760"/>
          </a:xfrm>
          <a:prstGeom prst="rect">
            <a:avLst/>
          </a:prstGeom>
        </p:spPr>
      </p:pic>
      <p:sp>
        <p:nvSpPr>
          <p:cNvPr id="16" name="Text 12"/>
          <p:cNvSpPr/>
          <p:nvPr/>
        </p:nvSpPr>
        <p:spPr>
          <a:xfrm>
            <a:off x="7284568" y="3166110"/>
            <a:ext cx="3977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0F2A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Trend</a:t>
            </a:r>
            <a:endParaRPr lang="en-US" sz="2200" dirty="0"/>
          </a:p>
        </p:txBody>
      </p:sp>
      <p:sp>
        <p:nvSpPr>
          <p:cNvPr id="17" name="Text 13"/>
          <p:cNvSpPr/>
          <p:nvPr/>
        </p:nvSpPr>
        <p:spPr>
          <a:xfrm>
            <a:off x="6553048" y="3657600"/>
            <a:ext cx="4800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Day-over-day AQI change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Multi-day momentum signals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 air quality rising or falling?</a:t>
            </a:r>
            <a:endParaRPr lang="en-US" sz="1300" dirty="0"/>
          </a:p>
        </p:txBody>
      </p:sp>
      <p:sp>
        <p:nvSpPr>
          <p:cNvPr id="18" name="Shape 14"/>
          <p:cNvSpPr/>
          <p:nvPr/>
        </p:nvSpPr>
        <p:spPr>
          <a:xfrm>
            <a:off x="655168" y="4709160"/>
            <a:ext cx="5349240" cy="1783080"/>
          </a:xfrm>
          <a:prstGeom prst="rect">
            <a:avLst/>
          </a:prstGeom>
          <a:solidFill>
            <a:srgbClr val="E8EEF3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9" name="Shape 15"/>
          <p:cNvSpPr/>
          <p:nvPr/>
        </p:nvSpPr>
        <p:spPr>
          <a:xfrm>
            <a:off x="655168" y="4709160"/>
            <a:ext cx="73152" cy="1783080"/>
          </a:xfrm>
          <a:prstGeom prst="rect">
            <a:avLst/>
          </a:prstGeom>
          <a:solidFill>
            <a:srgbClr val="1C7293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0" name="Shape 16"/>
          <p:cNvSpPr/>
          <p:nvPr/>
        </p:nvSpPr>
        <p:spPr>
          <a:xfrm>
            <a:off x="975208" y="5029200"/>
            <a:ext cx="640080" cy="64008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C729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21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12368" y="5166360"/>
            <a:ext cx="365760" cy="365760"/>
          </a:xfrm>
          <a:prstGeom prst="rect">
            <a:avLst/>
          </a:prstGeom>
        </p:spPr>
      </p:pic>
      <p:sp>
        <p:nvSpPr>
          <p:cNvPr id="22" name="Text 17"/>
          <p:cNvSpPr/>
          <p:nvPr/>
        </p:nvSpPr>
        <p:spPr>
          <a:xfrm>
            <a:off x="1752448" y="5113475"/>
            <a:ext cx="3977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0F2A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Weather</a:t>
            </a:r>
            <a:endParaRPr lang="en-US" sz="2200" dirty="0"/>
          </a:p>
        </p:txBody>
      </p:sp>
      <p:sp>
        <p:nvSpPr>
          <p:cNvPr id="23" name="Text 18"/>
          <p:cNvSpPr/>
          <p:nvPr/>
        </p:nvSpPr>
        <p:spPr>
          <a:xfrm>
            <a:off x="1020928" y="5623560"/>
            <a:ext cx="4800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Temperature, humidity, wind, rain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Yesterday's conditions as lags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Hot + still air interaction term</a:t>
            </a:r>
            <a:endParaRPr lang="en-US" sz="1300" dirty="0"/>
          </a:p>
        </p:txBody>
      </p:sp>
      <p:sp>
        <p:nvSpPr>
          <p:cNvPr id="24" name="Shape 19"/>
          <p:cNvSpPr/>
          <p:nvPr/>
        </p:nvSpPr>
        <p:spPr>
          <a:xfrm>
            <a:off x="6187288" y="4709160"/>
            <a:ext cx="5349240" cy="1783080"/>
          </a:xfrm>
          <a:prstGeom prst="rect">
            <a:avLst/>
          </a:prstGeom>
          <a:solidFill>
            <a:srgbClr val="E8EEF3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5" name="Shape 20"/>
          <p:cNvSpPr/>
          <p:nvPr/>
        </p:nvSpPr>
        <p:spPr>
          <a:xfrm>
            <a:off x="6187288" y="4709160"/>
            <a:ext cx="73152" cy="1783080"/>
          </a:xfrm>
          <a:prstGeom prst="rect">
            <a:avLst/>
          </a:prstGeom>
          <a:solidFill>
            <a:srgbClr val="1C7293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6" name="Shape 21"/>
          <p:cNvSpPr/>
          <p:nvPr/>
        </p:nvSpPr>
        <p:spPr>
          <a:xfrm>
            <a:off x="6507328" y="5029200"/>
            <a:ext cx="640080" cy="64008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C729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27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644488" y="5166360"/>
            <a:ext cx="365760" cy="365760"/>
          </a:xfrm>
          <a:prstGeom prst="rect">
            <a:avLst/>
          </a:prstGeom>
        </p:spPr>
      </p:pic>
      <p:sp>
        <p:nvSpPr>
          <p:cNvPr id="28" name="Text 22"/>
          <p:cNvSpPr/>
          <p:nvPr/>
        </p:nvSpPr>
        <p:spPr>
          <a:xfrm>
            <a:off x="7284568" y="5120640"/>
            <a:ext cx="3977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0F2A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Calendar</a:t>
            </a:r>
            <a:endParaRPr lang="en-US" sz="2200" dirty="0"/>
          </a:p>
        </p:txBody>
      </p:sp>
      <p:sp>
        <p:nvSpPr>
          <p:cNvPr id="29" name="Text 23"/>
          <p:cNvSpPr/>
          <p:nvPr/>
        </p:nvSpPr>
        <p:spPr>
          <a:xfrm>
            <a:off x="6553048" y="5623560"/>
            <a:ext cx="4800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of week, weekend flag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Cyclical month encoding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Day-of-year for seasonality</a:t>
            </a:r>
            <a:endParaRPr lang="en-US" sz="1300" dirty="0"/>
          </a:p>
        </p:txBody>
      </p:sp>
      <p:sp>
        <p:nvSpPr>
          <p:cNvPr id="30" name="Text 24"/>
          <p:cNvSpPr/>
          <p:nvPr/>
        </p:nvSpPr>
        <p:spPr>
          <a:xfrm>
            <a:off x="457200" y="644652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Houston AQI Forecast  ·  Next-day classifier</a:t>
            </a:r>
            <a:endParaRPr lang="en-US" sz="1000" dirty="0"/>
          </a:p>
        </p:txBody>
      </p:sp>
      <p:sp>
        <p:nvSpPr>
          <p:cNvPr id="31" name="Text 25"/>
          <p:cNvSpPr/>
          <p:nvPr/>
        </p:nvSpPr>
        <p:spPr>
          <a:xfrm>
            <a:off x="1127729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9/11</a:t>
            </a:r>
            <a:endParaRPr lang="en-US" sz="1000" dirty="0"/>
          </a:p>
        </p:txBody>
      </p:sp>
      <p:sp>
        <p:nvSpPr>
          <p:cNvPr id="32" name="Shape 20">
            <a:extLst>
              <a:ext uri="{FF2B5EF4-FFF2-40B4-BE49-F238E27FC236}">
                <a16:creationId xmlns:a16="http://schemas.microsoft.com/office/drawing/2014/main" id="{6A831DBE-4516-A11B-84AD-1B41ECFF9A87}"/>
              </a:ext>
            </a:extLst>
          </p:cNvPr>
          <p:cNvSpPr/>
          <p:nvPr/>
        </p:nvSpPr>
        <p:spPr>
          <a:xfrm>
            <a:off x="6187288" y="2743200"/>
            <a:ext cx="73152" cy="1783080"/>
          </a:xfrm>
          <a:prstGeom prst="rect">
            <a:avLst/>
          </a:prstGeom>
          <a:solidFill>
            <a:srgbClr val="1C7293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33" name="Image 0" descr="preencoded.png">
            <a:extLst>
              <a:ext uri="{FF2B5EF4-FFF2-40B4-BE49-F238E27FC236}">
                <a16:creationId xmlns:a16="http://schemas.microsoft.com/office/drawing/2014/main" id="{8A8A236D-D014-A9F6-9188-76A732A8ADE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62776" y="3223260"/>
            <a:ext cx="365760" cy="36576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365760" cy="365760"/>
          </a:xfrm>
          <a:prstGeom prst="ellipse">
            <a:avLst/>
          </a:prstGeom>
          <a:solidFill>
            <a:srgbClr val="1C7293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1005840" y="41148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kern="0" spc="400" dirty="0">
                <a:solidFill>
                  <a:srgbClr val="1A1A1A"/>
                </a:solidFill>
                <a:latin typeface="Calibri" pitchFamily="34" charset="0"/>
                <a:cs typeface="Calibri" pitchFamily="34" charset="-120"/>
              </a:rPr>
              <a:t>RESULTS AND INSIGHTS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548640" y="96012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0F2A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Model Performance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548640" y="1691640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compared models with very different assumptions to see which best fits this problem.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444856" y="2468880"/>
            <a:ext cx="3425395" cy="3060050"/>
          </a:xfrm>
          <a:prstGeom prst="rect">
            <a:avLst/>
          </a:prstGeom>
          <a:solidFill>
            <a:srgbClr val="E8EEF3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444856" y="2466032"/>
            <a:ext cx="3425395" cy="45719"/>
          </a:xfrm>
          <a:prstGeom prst="rect">
            <a:avLst/>
          </a:prstGeom>
          <a:solidFill>
            <a:srgbClr val="1C7293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764896" y="2743200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50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Winner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764896" y="3063240"/>
            <a:ext cx="30175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b="1" dirty="0">
                <a:solidFill>
                  <a:srgbClr val="0F2A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Random Forest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764896" y="3634740"/>
            <a:ext cx="3017520" cy="188887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IN" sz="1200" i="1" dirty="0"/>
              <a:t>Random Forest performed best </a:t>
            </a:r>
          </a:p>
          <a:p>
            <a:r>
              <a:rPr lang="en-IN" sz="1200" dirty="0"/>
              <a:t>Accuracy ≈ 72–74% </a:t>
            </a:r>
          </a:p>
          <a:p>
            <a:r>
              <a:rPr lang="en-IN" sz="1200" dirty="0"/>
              <a:t>Macro F1 ≈ 0.52 </a:t>
            </a:r>
            <a:br>
              <a:rPr lang="en-IN" sz="1200" dirty="0"/>
            </a:br>
            <a:endParaRPr lang="en-IN" sz="1200" dirty="0"/>
          </a:p>
          <a:p>
            <a:r>
              <a:rPr lang="en-IN" sz="1200" b="1" dirty="0"/>
              <a:t>Key Insights:</a:t>
            </a:r>
            <a:endParaRPr lang="en-IN" sz="1200" dirty="0"/>
          </a:p>
          <a:p>
            <a:r>
              <a:rPr lang="en-IN" sz="1200" dirty="0"/>
              <a:t>Model predicts “Moderate” very well </a:t>
            </a:r>
          </a:p>
          <a:p>
            <a:r>
              <a:rPr lang="en-IN" sz="1200" dirty="0"/>
              <a:t>Struggles with USG+ (harmful days) </a:t>
            </a:r>
          </a:p>
          <a:p>
            <a:r>
              <a:rPr lang="en-IN" sz="1200" dirty="0"/>
              <a:t>Accuracy alone is misleading due to class imbalance</a:t>
            </a:r>
          </a:p>
        </p:txBody>
      </p:sp>
      <p:sp>
        <p:nvSpPr>
          <p:cNvPr id="28" name="Text 26"/>
          <p:cNvSpPr/>
          <p:nvPr/>
        </p:nvSpPr>
        <p:spPr>
          <a:xfrm>
            <a:off x="457200" y="644652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Houston AQI Forecast  ·  Next-day classifier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1127729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10/11</a:t>
            </a:r>
            <a:endParaRPr lang="en-US" sz="1000" dirty="0"/>
          </a:p>
        </p:txBody>
      </p:sp>
      <p:pic>
        <p:nvPicPr>
          <p:cNvPr id="30" name="Picture 29">
            <a:extLst>
              <a:ext uri="{FF2B5EF4-FFF2-40B4-BE49-F238E27FC236}">
                <a16:creationId xmlns:a16="http://schemas.microsoft.com/office/drawing/2014/main" id="{3F182C36-78D2-BD1B-CFF1-C70DFEC0124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71321" y="3090067"/>
            <a:ext cx="3005907" cy="2606039"/>
          </a:xfrm>
          <a:prstGeom prst="rect">
            <a:avLst/>
          </a:prstGeom>
        </p:spPr>
      </p:pic>
      <p:sp>
        <p:nvSpPr>
          <p:cNvPr id="31" name="Shape 4">
            <a:extLst>
              <a:ext uri="{FF2B5EF4-FFF2-40B4-BE49-F238E27FC236}">
                <a16:creationId xmlns:a16="http://schemas.microsoft.com/office/drawing/2014/main" id="{750DF9AB-4814-4030-C465-FCD2F87779BE}"/>
              </a:ext>
            </a:extLst>
          </p:cNvPr>
          <p:cNvSpPr/>
          <p:nvPr/>
        </p:nvSpPr>
        <p:spPr>
          <a:xfrm>
            <a:off x="8074379" y="456399"/>
            <a:ext cx="3538501" cy="3060050"/>
          </a:xfrm>
          <a:prstGeom prst="rect">
            <a:avLst/>
          </a:prstGeom>
          <a:solidFill>
            <a:srgbClr val="E8EEF3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4" name="Text 10">
            <a:extLst>
              <a:ext uri="{FF2B5EF4-FFF2-40B4-BE49-F238E27FC236}">
                <a16:creationId xmlns:a16="http://schemas.microsoft.com/office/drawing/2014/main" id="{C74C6F34-43B0-4875-F56C-2FAC793BA5DD}"/>
              </a:ext>
            </a:extLst>
          </p:cNvPr>
          <p:cNvSpPr/>
          <p:nvPr/>
        </p:nvSpPr>
        <p:spPr>
          <a:xfrm>
            <a:off x="8240636" y="873195"/>
            <a:ext cx="3017520" cy="188887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IN" sz="1200" b="1" dirty="0"/>
              <a:t>Model Improvements:</a:t>
            </a:r>
          </a:p>
          <a:p>
            <a:endParaRPr lang="en-IN" sz="1200" dirty="0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IN" sz="1200" dirty="0"/>
              <a:t>Hyperparameter tuning improved Macro F1 to ~ 0.57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IN" sz="1200" dirty="0"/>
              <a:t>Better detection of USG+ (harmful days)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IN" sz="1200" dirty="0"/>
              <a:t>Slight drop in overall accuracy</a:t>
            </a:r>
          </a:p>
          <a:p>
            <a:pPr>
              <a:buFont typeface="Arial" panose="020B0604020202020204" pitchFamily="34" charset="0"/>
              <a:buChar char="•"/>
            </a:pPr>
            <a:endParaRPr lang="en-IN" sz="1200" dirty="0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IN" sz="1200" dirty="0"/>
              <a:t>Used regularized RF + threshold tuning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IN" sz="1200" dirty="0"/>
              <a:t>Balanced accuracy and risk detection </a:t>
            </a:r>
          </a:p>
          <a:p>
            <a:pPr>
              <a:buFont typeface="Arial" panose="020B0604020202020204" pitchFamily="34" charset="0"/>
              <a:buChar char="•"/>
            </a:pPr>
            <a:endParaRPr lang="en-IN" sz="1200" dirty="0"/>
          </a:p>
        </p:txBody>
      </p:sp>
      <p:pic>
        <p:nvPicPr>
          <p:cNvPr id="38" name="Picture 37">
            <a:extLst>
              <a:ext uri="{FF2B5EF4-FFF2-40B4-BE49-F238E27FC236}">
                <a16:creationId xmlns:a16="http://schemas.microsoft.com/office/drawing/2014/main" id="{244A20FC-B980-ACA3-3839-07FB7A66EF9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66132" y="3835098"/>
            <a:ext cx="3966528" cy="17561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5302765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365760" cy="365760"/>
          </a:xfrm>
          <a:prstGeom prst="ellipse">
            <a:avLst/>
          </a:prstGeom>
          <a:solidFill>
            <a:srgbClr val="1C7293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1005840" y="41148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kern="0" spc="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STREAMLIT DASHBOARD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548640" y="96012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0F2A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Interactive </a:t>
            </a:r>
            <a:r>
              <a:rPr lang="en-US" sz="3200" b="1" dirty="0" err="1">
                <a:solidFill>
                  <a:srgbClr val="0F2A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Streamlit</a:t>
            </a:r>
            <a:r>
              <a:rPr lang="en-US" sz="3200" b="1" dirty="0">
                <a:solidFill>
                  <a:srgbClr val="0F2A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Dashboard</a:t>
            </a:r>
            <a:endParaRPr lang="en-US" sz="3200" dirty="0"/>
          </a:p>
        </p:txBody>
      </p:sp>
      <p:sp>
        <p:nvSpPr>
          <p:cNvPr id="31" name="Text 25"/>
          <p:cNvSpPr/>
          <p:nvPr/>
        </p:nvSpPr>
        <p:spPr>
          <a:xfrm>
            <a:off x="457200" y="644652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Houston AQI Forecast  ·  Next-day classifier</a:t>
            </a:r>
            <a:endParaRPr lang="en-US" sz="1000" dirty="0"/>
          </a:p>
        </p:txBody>
      </p:sp>
      <p:sp>
        <p:nvSpPr>
          <p:cNvPr id="32" name="Text 26"/>
          <p:cNvSpPr/>
          <p:nvPr/>
        </p:nvSpPr>
        <p:spPr>
          <a:xfrm>
            <a:off x="1127729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11/11</a:t>
            </a:r>
            <a:endParaRPr lang="en-US" sz="1000" dirty="0"/>
          </a:p>
        </p:txBody>
      </p:sp>
      <p:sp>
        <p:nvSpPr>
          <p:cNvPr id="33" name="Text 3">
            <a:extLst>
              <a:ext uri="{FF2B5EF4-FFF2-40B4-BE49-F238E27FC236}">
                <a16:creationId xmlns:a16="http://schemas.microsoft.com/office/drawing/2014/main" id="{551914A8-1A96-9861-CA07-D4A7C3A59F8E}"/>
              </a:ext>
            </a:extLst>
          </p:cNvPr>
          <p:cNvSpPr/>
          <p:nvPr/>
        </p:nvSpPr>
        <p:spPr>
          <a:xfrm>
            <a:off x="2239617" y="5943600"/>
            <a:ext cx="8759687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IN" sz="1700" i="1" dirty="0">
                <a:solidFill>
                  <a:srgbClr val="475569"/>
                </a:solidFill>
                <a:latin typeface="Calibri" pitchFamily="34" charset="0"/>
                <a:cs typeface="Calibri" pitchFamily="34" charset="-120"/>
              </a:rPr>
              <a:t>Provides an intuitive interface for users to explore air quality predictions and risk levels.</a:t>
            </a:r>
          </a:p>
        </p:txBody>
      </p:sp>
      <p:pic>
        <p:nvPicPr>
          <p:cNvPr id="35" name="Picture 34">
            <a:extLst>
              <a:ext uri="{FF2B5EF4-FFF2-40B4-BE49-F238E27FC236}">
                <a16:creationId xmlns:a16="http://schemas.microsoft.com/office/drawing/2014/main" id="{A0A2F095-57B2-7311-DDF0-06AC7716F1C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11895" y="1992928"/>
            <a:ext cx="7248939" cy="3950672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365760" cy="365760"/>
          </a:xfrm>
          <a:prstGeom prst="ellipse">
            <a:avLst/>
          </a:prstGeom>
          <a:solidFill>
            <a:srgbClr val="1C7293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1005840" y="41148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kern="0" spc="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MAKING IT BETTER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548640" y="96012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0F2A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Key Considerations &amp; Model Insights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548640" y="1691640"/>
            <a:ext cx="10515600" cy="40465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Font typeface="Wingdings" pitchFamily="2" charset="2"/>
              <a:buChar char="Ø"/>
            </a:pPr>
            <a:r>
              <a:rPr lang="en-IN" sz="2000" dirty="0"/>
              <a:t>Real-world data is naturally imbalanced</a:t>
            </a:r>
            <a:br>
              <a:rPr lang="en-IN" sz="2000" dirty="0"/>
            </a:br>
            <a:r>
              <a:rPr lang="en-IN" sz="2000" i="1" dirty="0"/>
              <a:t>Most days are “Moderate,” fewer harmful days </a:t>
            </a:r>
          </a:p>
          <a:p>
            <a:pPr marL="342900" indent="-342900">
              <a:buFont typeface="Wingdings" pitchFamily="2" charset="2"/>
              <a:buChar char="Ø"/>
            </a:pPr>
            <a:endParaRPr lang="en-IN" sz="2000" dirty="0"/>
          </a:p>
          <a:p>
            <a:pPr marL="342900" indent="-342900">
              <a:buFont typeface="Wingdings" pitchFamily="2" charset="2"/>
              <a:buChar char="Ø"/>
            </a:pPr>
            <a:r>
              <a:rPr lang="en-IN" sz="2000" dirty="0"/>
              <a:t>Model focuses on detecting critical USG+ cases</a:t>
            </a:r>
            <a:br>
              <a:rPr lang="en-IN" sz="2000" dirty="0"/>
            </a:br>
            <a:r>
              <a:rPr lang="en-IN" sz="2000" i="1" dirty="0"/>
              <a:t>Prioritizing safety over perfect accuracy </a:t>
            </a:r>
          </a:p>
          <a:p>
            <a:pPr marL="342900" indent="-342900">
              <a:buFont typeface="Wingdings" pitchFamily="2" charset="2"/>
              <a:buChar char="Ø"/>
            </a:pPr>
            <a:endParaRPr lang="en-IN" sz="2000" dirty="0"/>
          </a:p>
          <a:p>
            <a:pPr marL="342900" indent="-342900">
              <a:buFont typeface="Wingdings" pitchFamily="2" charset="2"/>
              <a:buChar char="Ø"/>
            </a:pPr>
            <a:r>
              <a:rPr lang="en-IN" sz="2000" dirty="0"/>
              <a:t>Accuracy alone is not sufficient</a:t>
            </a:r>
            <a:br>
              <a:rPr lang="en-IN" sz="2000" dirty="0"/>
            </a:br>
            <a:r>
              <a:rPr lang="en-IN" sz="2000" i="1" dirty="0"/>
              <a:t>Used Macro F1 and recall for better evaluation </a:t>
            </a:r>
          </a:p>
          <a:p>
            <a:pPr marL="342900" indent="-342900">
              <a:buFont typeface="Wingdings" pitchFamily="2" charset="2"/>
              <a:buChar char="Ø"/>
            </a:pPr>
            <a:endParaRPr lang="en-IN" sz="2000" dirty="0"/>
          </a:p>
          <a:p>
            <a:pPr marL="342900" indent="-342900">
              <a:buFont typeface="Wingdings" pitchFamily="2" charset="2"/>
              <a:buChar char="Ø"/>
            </a:pPr>
            <a:r>
              <a:rPr lang="en-IN" sz="2000" dirty="0"/>
              <a:t>Balanced performance achieved through tuning</a:t>
            </a:r>
            <a:br>
              <a:rPr lang="en-IN" sz="2000" dirty="0"/>
            </a:br>
            <a:r>
              <a:rPr lang="en-IN" sz="2000" i="1" dirty="0" err="1"/>
              <a:t>Tradeoff</a:t>
            </a:r>
            <a:r>
              <a:rPr lang="en-IN" sz="2000" i="1" dirty="0"/>
              <a:t> between overall accuracy and risk detection </a:t>
            </a:r>
          </a:p>
        </p:txBody>
      </p:sp>
      <p:sp>
        <p:nvSpPr>
          <p:cNvPr id="31" name="Text 25"/>
          <p:cNvSpPr/>
          <p:nvPr/>
        </p:nvSpPr>
        <p:spPr>
          <a:xfrm>
            <a:off x="457200" y="644652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Houston AQI Forecast  ·  Next-day classifier</a:t>
            </a:r>
            <a:endParaRPr lang="en-US" sz="1000" dirty="0"/>
          </a:p>
        </p:txBody>
      </p:sp>
      <p:sp>
        <p:nvSpPr>
          <p:cNvPr id="33" name="Text 3">
            <a:extLst>
              <a:ext uri="{FF2B5EF4-FFF2-40B4-BE49-F238E27FC236}">
                <a16:creationId xmlns:a16="http://schemas.microsoft.com/office/drawing/2014/main" id="{551914A8-1A96-9861-CA07-D4A7C3A59F8E}"/>
              </a:ext>
            </a:extLst>
          </p:cNvPr>
          <p:cNvSpPr/>
          <p:nvPr/>
        </p:nvSpPr>
        <p:spPr>
          <a:xfrm>
            <a:off x="2504660" y="5623560"/>
            <a:ext cx="8468139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Goal is to </a:t>
            </a:r>
            <a:r>
              <a:rPr lang="en-US" sz="1700" i="1" dirty="0">
                <a:solidFill>
                  <a:srgbClr val="475569"/>
                </a:solidFill>
                <a:latin typeface="Calibri" pitchFamily="34" charset="0"/>
                <a:cs typeface="Calibri" pitchFamily="34" charset="-120"/>
              </a:rPr>
              <a:t>b</a:t>
            </a:r>
            <a:r>
              <a:rPr lang="en-IN" sz="1700" i="1" dirty="0" err="1">
                <a:solidFill>
                  <a:srgbClr val="475569"/>
                </a:solidFill>
                <a:latin typeface="Calibri" pitchFamily="34" charset="0"/>
                <a:cs typeface="Calibri" pitchFamily="34" charset="-120"/>
              </a:rPr>
              <a:t>uild</a:t>
            </a:r>
            <a:r>
              <a:rPr lang="en-IN" sz="1700" i="1" dirty="0">
                <a:solidFill>
                  <a:srgbClr val="475569"/>
                </a:solidFill>
                <a:latin typeface="Calibri" pitchFamily="34" charset="0"/>
                <a:cs typeface="Calibri" pitchFamily="34" charset="-120"/>
              </a:rPr>
              <a:t> a model that is reliable for real-world decision making</a:t>
            </a:r>
            <a:endParaRPr lang="en-US" sz="1700" i="1" dirty="0">
              <a:solidFill>
                <a:srgbClr val="475569"/>
              </a:solidFill>
              <a:latin typeface="Calibri" pitchFamily="34" charset="0"/>
              <a:cs typeface="Calibri" pitchFamily="34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265824122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ext 12"/>
          <p:cNvSpPr/>
          <p:nvPr/>
        </p:nvSpPr>
        <p:spPr>
          <a:xfrm>
            <a:off x="548640" y="410817"/>
            <a:ext cx="10972800" cy="59442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800" i="1" dirty="0">
                <a:solidFill>
                  <a:srgbClr val="0F2A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Thank you.</a:t>
            </a:r>
            <a:endParaRPr lang="en-US" sz="4800" dirty="0"/>
          </a:p>
        </p:txBody>
      </p:sp>
      <p:sp>
        <p:nvSpPr>
          <p:cNvPr id="17" name="Text 13"/>
          <p:cNvSpPr/>
          <p:nvPr/>
        </p:nvSpPr>
        <p:spPr>
          <a:xfrm>
            <a:off x="457200" y="644652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Houston AQI Forecast  ·  Next-day classifier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132</TotalTime>
  <Words>1142</Words>
  <Application>Microsoft Macintosh PowerPoint</Application>
  <PresentationFormat>Widescreen</PresentationFormat>
  <Paragraphs>200</Paragraphs>
  <Slides>13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8" baseType="lpstr">
      <vt:lpstr>Arial</vt:lpstr>
      <vt:lpstr>Calibri</vt:lpstr>
      <vt:lpstr>Georgia</vt:lpstr>
      <vt:lpstr>Wingdings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Predicting Next-Day Air Quality in Houston</dc:title>
  <dc:subject>PptxGenJS Presentation</dc:subject>
  <dc:creator>Houston AQI Project</dc:creator>
  <cp:lastModifiedBy>Mitaali Dayal</cp:lastModifiedBy>
  <cp:revision>4</cp:revision>
  <dcterms:created xsi:type="dcterms:W3CDTF">2026-05-05T16:21:21Z</dcterms:created>
  <dcterms:modified xsi:type="dcterms:W3CDTF">2026-05-05T19:23:57Z</dcterms:modified>
</cp:coreProperties>
</file>