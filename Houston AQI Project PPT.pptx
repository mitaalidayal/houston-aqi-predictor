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2" r:id="rId10"/>
    <p:sldId id="268" r:id="rId11"/>
    <p:sldId id="264" r:id="rId12"/>
    <p:sldId id="269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7293"/>
    <a:srgbClr val="0E2A47"/>
    <a:srgbClr val="0C1B2A"/>
    <a:srgbClr val="4B5F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944F87-13B5-7149-BC1D-91248FD24CDE}" type="doc">
      <dgm:prSet loTypeId="urn:microsoft.com/office/officeart/2005/8/layout/vList3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GB"/>
        </a:p>
      </dgm:t>
    </dgm:pt>
    <dgm:pt modelId="{813FA1ED-37C3-8544-892F-C51BE29AE459}">
      <dgm:prSet custT="1"/>
      <dgm:spPr>
        <a:solidFill>
          <a:srgbClr val="0E2A47"/>
        </a:solidFill>
      </dgm:spPr>
      <dgm:t>
        <a:bodyPr/>
        <a:lstStyle/>
        <a:p>
          <a:r>
            <a:rPr lang="en-IN" sz="1600" dirty="0"/>
            <a:t>Sorted all records by date. </a:t>
          </a:r>
        </a:p>
      </dgm:t>
    </dgm:pt>
    <dgm:pt modelId="{8EFD107B-C243-E746-88E2-CCAD723D6313}" type="parTrans" cxnId="{EB0D8CDF-DF74-2C47-B20E-F6ED4A6827B2}">
      <dgm:prSet/>
      <dgm:spPr/>
      <dgm:t>
        <a:bodyPr/>
        <a:lstStyle/>
        <a:p>
          <a:endParaRPr lang="en-GB"/>
        </a:p>
      </dgm:t>
    </dgm:pt>
    <dgm:pt modelId="{14A2B498-1E1B-F54D-87DC-7106EDE3B964}" type="sibTrans" cxnId="{EB0D8CDF-DF74-2C47-B20E-F6ED4A6827B2}">
      <dgm:prSet/>
      <dgm:spPr/>
      <dgm:t>
        <a:bodyPr/>
        <a:lstStyle/>
        <a:p>
          <a:endParaRPr lang="en-GB"/>
        </a:p>
      </dgm:t>
    </dgm:pt>
    <dgm:pt modelId="{9258B9F2-D23F-604B-AC32-BEC928482A27}">
      <dgm:prSet custT="1"/>
      <dgm:spPr>
        <a:solidFill>
          <a:srgbClr val="4B5F75"/>
        </a:solidFill>
      </dgm:spPr>
      <dgm:t>
        <a:bodyPr/>
        <a:lstStyle/>
        <a:p>
          <a:r>
            <a:rPr lang="en-IN" sz="1600"/>
            <a:t>Checked for missing daily records.</a:t>
          </a:r>
        </a:p>
      </dgm:t>
    </dgm:pt>
    <dgm:pt modelId="{A436C6C9-46D1-5949-B53A-F8465EE9F436}" type="parTrans" cxnId="{BDB34D7B-0500-2B41-B372-481249CA8A66}">
      <dgm:prSet/>
      <dgm:spPr/>
      <dgm:t>
        <a:bodyPr/>
        <a:lstStyle/>
        <a:p>
          <a:endParaRPr lang="en-GB"/>
        </a:p>
      </dgm:t>
    </dgm:pt>
    <dgm:pt modelId="{E03308F6-0E53-0445-AE4A-AAC939529334}" type="sibTrans" cxnId="{BDB34D7B-0500-2B41-B372-481249CA8A66}">
      <dgm:prSet/>
      <dgm:spPr/>
      <dgm:t>
        <a:bodyPr/>
        <a:lstStyle/>
        <a:p>
          <a:endParaRPr lang="en-GB"/>
        </a:p>
      </dgm:t>
    </dgm:pt>
    <dgm:pt modelId="{9EFB79D2-DF3E-0C49-9FEB-3C172AADD2EB}">
      <dgm:prSet custT="1"/>
      <dgm:spPr>
        <a:solidFill>
          <a:srgbClr val="0E2A47"/>
        </a:solidFill>
      </dgm:spPr>
      <dgm:t>
        <a:bodyPr/>
        <a:lstStyle/>
        <a:p>
          <a:r>
            <a:rPr lang="en-IN" sz="1600" dirty="0"/>
            <a:t>Created a continuous daily dataset.</a:t>
          </a:r>
        </a:p>
      </dgm:t>
    </dgm:pt>
    <dgm:pt modelId="{B0BBE943-F781-1B42-BEA1-E53AC10B5C6C}" type="parTrans" cxnId="{9176093F-21A0-264F-995A-D2D3473A8B74}">
      <dgm:prSet/>
      <dgm:spPr/>
      <dgm:t>
        <a:bodyPr/>
        <a:lstStyle/>
        <a:p>
          <a:endParaRPr lang="en-GB"/>
        </a:p>
      </dgm:t>
    </dgm:pt>
    <dgm:pt modelId="{115EBFCA-5D4B-2444-BBEA-79F95ABC74D6}" type="sibTrans" cxnId="{9176093F-21A0-264F-995A-D2D3473A8B74}">
      <dgm:prSet/>
      <dgm:spPr/>
      <dgm:t>
        <a:bodyPr/>
        <a:lstStyle/>
        <a:p>
          <a:endParaRPr lang="en-GB"/>
        </a:p>
      </dgm:t>
    </dgm:pt>
    <dgm:pt modelId="{852BD152-6387-B641-803E-824133A9273B}">
      <dgm:prSet custT="1"/>
      <dgm:spPr>
        <a:solidFill>
          <a:srgbClr val="4B5F75"/>
        </a:solidFill>
      </dgm:spPr>
      <dgm:t>
        <a:bodyPr/>
        <a:lstStyle/>
        <a:p>
          <a:r>
            <a:rPr lang="en-IN" sz="1600" dirty="0"/>
            <a:t>Filled weather gaps using forward/backward fill. Interpolated AQI values if gaps existed.</a:t>
          </a:r>
        </a:p>
      </dgm:t>
    </dgm:pt>
    <dgm:pt modelId="{DFE170A6-42B4-E545-9E75-C9090886856A}" type="parTrans" cxnId="{1AFDACC3-5644-5549-BEDD-E4AAB9B2490D}">
      <dgm:prSet/>
      <dgm:spPr/>
      <dgm:t>
        <a:bodyPr/>
        <a:lstStyle/>
        <a:p>
          <a:endParaRPr lang="en-GB"/>
        </a:p>
      </dgm:t>
    </dgm:pt>
    <dgm:pt modelId="{007CADE5-50E6-9442-889E-9FCD50120F36}" type="sibTrans" cxnId="{1AFDACC3-5644-5549-BEDD-E4AAB9B2490D}">
      <dgm:prSet/>
      <dgm:spPr/>
      <dgm:t>
        <a:bodyPr/>
        <a:lstStyle/>
        <a:p>
          <a:endParaRPr lang="en-GB"/>
        </a:p>
      </dgm:t>
    </dgm:pt>
    <dgm:pt modelId="{6C265FB6-4C82-6447-8FEC-AE36E4945F88}" type="pres">
      <dgm:prSet presAssocID="{8F944F87-13B5-7149-BC1D-91248FD24CDE}" presName="linearFlow" presStyleCnt="0">
        <dgm:presLayoutVars>
          <dgm:dir/>
          <dgm:resizeHandles val="exact"/>
        </dgm:presLayoutVars>
      </dgm:prSet>
      <dgm:spPr/>
    </dgm:pt>
    <dgm:pt modelId="{F01C445E-8A72-3C44-84AC-76150404F326}" type="pres">
      <dgm:prSet presAssocID="{813FA1ED-37C3-8544-892F-C51BE29AE459}" presName="composite" presStyleCnt="0"/>
      <dgm:spPr/>
    </dgm:pt>
    <dgm:pt modelId="{BA53A300-6037-734F-970C-B1351BAAC4A0}" type="pres">
      <dgm:prSet presAssocID="{813FA1ED-37C3-8544-892F-C51BE29AE459}" presName="imgShp" presStyleLbl="fgImgPlace1" presStyleIdx="0" presStyleCnt="4"/>
      <dgm:spPr>
        <a:solidFill>
          <a:schemeClr val="accent1">
            <a:lumMod val="40000"/>
            <a:lumOff val="60000"/>
          </a:schemeClr>
        </a:solidFill>
      </dgm:spPr>
    </dgm:pt>
    <dgm:pt modelId="{DBDD4144-70B7-934B-8D0C-E4DEAC5C384B}" type="pres">
      <dgm:prSet presAssocID="{813FA1ED-37C3-8544-892F-C51BE29AE459}" presName="txShp" presStyleLbl="node1" presStyleIdx="0" presStyleCnt="4">
        <dgm:presLayoutVars>
          <dgm:bulletEnabled val="1"/>
        </dgm:presLayoutVars>
      </dgm:prSet>
      <dgm:spPr/>
    </dgm:pt>
    <dgm:pt modelId="{30D0557F-4446-6C48-B294-AAA78D08A9AA}" type="pres">
      <dgm:prSet presAssocID="{14A2B498-1E1B-F54D-87DC-7106EDE3B964}" presName="spacing" presStyleCnt="0"/>
      <dgm:spPr/>
    </dgm:pt>
    <dgm:pt modelId="{4B8E8EEA-5584-1E48-B4B9-EDCFFCDE3AAA}" type="pres">
      <dgm:prSet presAssocID="{9258B9F2-D23F-604B-AC32-BEC928482A27}" presName="composite" presStyleCnt="0"/>
      <dgm:spPr/>
    </dgm:pt>
    <dgm:pt modelId="{D7DB2927-C180-DB47-9208-4E1FB460DED9}" type="pres">
      <dgm:prSet presAssocID="{9258B9F2-D23F-604B-AC32-BEC928482A27}" presName="imgShp" presStyleLbl="fgImgPlace1" presStyleIdx="1" presStyleCnt="4"/>
      <dgm:spPr>
        <a:solidFill>
          <a:schemeClr val="accent1">
            <a:lumMod val="40000"/>
            <a:lumOff val="60000"/>
          </a:schemeClr>
        </a:solidFill>
      </dgm:spPr>
    </dgm:pt>
    <dgm:pt modelId="{7FCE73E4-224B-4D4D-9281-C7F6815506F8}" type="pres">
      <dgm:prSet presAssocID="{9258B9F2-D23F-604B-AC32-BEC928482A27}" presName="txShp" presStyleLbl="node1" presStyleIdx="1" presStyleCnt="4">
        <dgm:presLayoutVars>
          <dgm:bulletEnabled val="1"/>
        </dgm:presLayoutVars>
      </dgm:prSet>
      <dgm:spPr/>
    </dgm:pt>
    <dgm:pt modelId="{267376C8-FF81-EB49-8832-D7A799ABDC6E}" type="pres">
      <dgm:prSet presAssocID="{E03308F6-0E53-0445-AE4A-AAC939529334}" presName="spacing" presStyleCnt="0"/>
      <dgm:spPr/>
    </dgm:pt>
    <dgm:pt modelId="{886450FA-7CF2-D84B-AB32-51BA281C83A6}" type="pres">
      <dgm:prSet presAssocID="{9EFB79D2-DF3E-0C49-9FEB-3C172AADD2EB}" presName="composite" presStyleCnt="0"/>
      <dgm:spPr/>
    </dgm:pt>
    <dgm:pt modelId="{9A5B1D4D-A057-4E4E-BF37-704EC7868354}" type="pres">
      <dgm:prSet presAssocID="{9EFB79D2-DF3E-0C49-9FEB-3C172AADD2EB}" presName="imgShp" presStyleLbl="fgImgPlace1" presStyleIdx="2" presStyleCnt="4"/>
      <dgm:spPr>
        <a:solidFill>
          <a:schemeClr val="accent1">
            <a:lumMod val="40000"/>
            <a:lumOff val="60000"/>
          </a:schemeClr>
        </a:solidFill>
      </dgm:spPr>
    </dgm:pt>
    <dgm:pt modelId="{61722100-BBE7-C04F-89C3-7420FB107874}" type="pres">
      <dgm:prSet presAssocID="{9EFB79D2-DF3E-0C49-9FEB-3C172AADD2EB}" presName="txShp" presStyleLbl="node1" presStyleIdx="2" presStyleCnt="4">
        <dgm:presLayoutVars>
          <dgm:bulletEnabled val="1"/>
        </dgm:presLayoutVars>
      </dgm:prSet>
      <dgm:spPr/>
    </dgm:pt>
    <dgm:pt modelId="{AF18CFE4-2D54-5642-B9A4-0666498E6ED3}" type="pres">
      <dgm:prSet presAssocID="{115EBFCA-5D4B-2444-BBEA-79F95ABC74D6}" presName="spacing" presStyleCnt="0"/>
      <dgm:spPr/>
    </dgm:pt>
    <dgm:pt modelId="{F2DDA84C-AB02-2C4D-8865-3DD4BDC6DFDA}" type="pres">
      <dgm:prSet presAssocID="{852BD152-6387-B641-803E-824133A9273B}" presName="composite" presStyleCnt="0"/>
      <dgm:spPr/>
    </dgm:pt>
    <dgm:pt modelId="{09847268-2946-1C47-BAB2-BE47353ADE0B}" type="pres">
      <dgm:prSet presAssocID="{852BD152-6387-B641-803E-824133A9273B}" presName="imgShp" presStyleLbl="fgImgPlace1" presStyleIdx="3" presStyleCnt="4"/>
      <dgm:spPr>
        <a:solidFill>
          <a:schemeClr val="accent1">
            <a:lumMod val="40000"/>
            <a:lumOff val="60000"/>
          </a:schemeClr>
        </a:solidFill>
      </dgm:spPr>
    </dgm:pt>
    <dgm:pt modelId="{817B19FA-C4F5-7C4E-AB2C-C7CC3D2FBA24}" type="pres">
      <dgm:prSet presAssocID="{852BD152-6387-B641-803E-824133A9273B}" presName="txShp" presStyleLbl="node1" presStyleIdx="3" presStyleCnt="4">
        <dgm:presLayoutVars>
          <dgm:bulletEnabled val="1"/>
        </dgm:presLayoutVars>
      </dgm:prSet>
      <dgm:spPr/>
    </dgm:pt>
  </dgm:ptLst>
  <dgm:cxnLst>
    <dgm:cxn modelId="{3E05B60D-5A1E-354D-B604-EC3F8315864D}" type="presOf" srcId="{813FA1ED-37C3-8544-892F-C51BE29AE459}" destId="{DBDD4144-70B7-934B-8D0C-E4DEAC5C384B}" srcOrd="0" destOrd="0" presId="urn:microsoft.com/office/officeart/2005/8/layout/vList3"/>
    <dgm:cxn modelId="{0CD5593E-04EE-9D40-8B88-D94CCD4F1F26}" type="presOf" srcId="{8F944F87-13B5-7149-BC1D-91248FD24CDE}" destId="{6C265FB6-4C82-6447-8FEC-AE36E4945F88}" srcOrd="0" destOrd="0" presId="urn:microsoft.com/office/officeart/2005/8/layout/vList3"/>
    <dgm:cxn modelId="{9176093F-21A0-264F-995A-D2D3473A8B74}" srcId="{8F944F87-13B5-7149-BC1D-91248FD24CDE}" destId="{9EFB79D2-DF3E-0C49-9FEB-3C172AADD2EB}" srcOrd="2" destOrd="0" parTransId="{B0BBE943-F781-1B42-BEA1-E53AC10B5C6C}" sibTransId="{115EBFCA-5D4B-2444-BBEA-79F95ABC74D6}"/>
    <dgm:cxn modelId="{BDB34D7B-0500-2B41-B372-481249CA8A66}" srcId="{8F944F87-13B5-7149-BC1D-91248FD24CDE}" destId="{9258B9F2-D23F-604B-AC32-BEC928482A27}" srcOrd="1" destOrd="0" parTransId="{A436C6C9-46D1-5949-B53A-F8465EE9F436}" sibTransId="{E03308F6-0E53-0445-AE4A-AAC939529334}"/>
    <dgm:cxn modelId="{3754B588-F05F-9F42-B51F-302A50A8C966}" type="presOf" srcId="{9EFB79D2-DF3E-0C49-9FEB-3C172AADD2EB}" destId="{61722100-BBE7-C04F-89C3-7420FB107874}" srcOrd="0" destOrd="0" presId="urn:microsoft.com/office/officeart/2005/8/layout/vList3"/>
    <dgm:cxn modelId="{F5CF7395-3B2F-D949-8FA1-E8380B0CCB99}" type="presOf" srcId="{9258B9F2-D23F-604B-AC32-BEC928482A27}" destId="{7FCE73E4-224B-4D4D-9281-C7F6815506F8}" srcOrd="0" destOrd="0" presId="urn:microsoft.com/office/officeart/2005/8/layout/vList3"/>
    <dgm:cxn modelId="{2FCE4E9B-D23D-6A40-BD6A-6E1379B1E37B}" type="presOf" srcId="{852BD152-6387-B641-803E-824133A9273B}" destId="{817B19FA-C4F5-7C4E-AB2C-C7CC3D2FBA24}" srcOrd="0" destOrd="0" presId="urn:microsoft.com/office/officeart/2005/8/layout/vList3"/>
    <dgm:cxn modelId="{1AFDACC3-5644-5549-BEDD-E4AAB9B2490D}" srcId="{8F944F87-13B5-7149-BC1D-91248FD24CDE}" destId="{852BD152-6387-B641-803E-824133A9273B}" srcOrd="3" destOrd="0" parTransId="{DFE170A6-42B4-E545-9E75-C9090886856A}" sibTransId="{007CADE5-50E6-9442-889E-9FCD50120F36}"/>
    <dgm:cxn modelId="{EB0D8CDF-DF74-2C47-B20E-F6ED4A6827B2}" srcId="{8F944F87-13B5-7149-BC1D-91248FD24CDE}" destId="{813FA1ED-37C3-8544-892F-C51BE29AE459}" srcOrd="0" destOrd="0" parTransId="{8EFD107B-C243-E746-88E2-CCAD723D6313}" sibTransId="{14A2B498-1E1B-F54D-87DC-7106EDE3B964}"/>
    <dgm:cxn modelId="{D83E6704-7873-2D41-86B7-9096C84910CC}" type="presParOf" srcId="{6C265FB6-4C82-6447-8FEC-AE36E4945F88}" destId="{F01C445E-8A72-3C44-84AC-76150404F326}" srcOrd="0" destOrd="0" presId="urn:microsoft.com/office/officeart/2005/8/layout/vList3"/>
    <dgm:cxn modelId="{5DAF77EF-917F-2741-8BE7-44EB223BF911}" type="presParOf" srcId="{F01C445E-8A72-3C44-84AC-76150404F326}" destId="{BA53A300-6037-734F-970C-B1351BAAC4A0}" srcOrd="0" destOrd="0" presId="urn:microsoft.com/office/officeart/2005/8/layout/vList3"/>
    <dgm:cxn modelId="{6242E00D-034F-B740-9C9F-6102279BB9C2}" type="presParOf" srcId="{F01C445E-8A72-3C44-84AC-76150404F326}" destId="{DBDD4144-70B7-934B-8D0C-E4DEAC5C384B}" srcOrd="1" destOrd="0" presId="urn:microsoft.com/office/officeart/2005/8/layout/vList3"/>
    <dgm:cxn modelId="{FBB4EE63-F98C-E14B-BB18-89FF4A082247}" type="presParOf" srcId="{6C265FB6-4C82-6447-8FEC-AE36E4945F88}" destId="{30D0557F-4446-6C48-B294-AAA78D08A9AA}" srcOrd="1" destOrd="0" presId="urn:microsoft.com/office/officeart/2005/8/layout/vList3"/>
    <dgm:cxn modelId="{5393F3BC-769A-8949-A5AB-CBCF69700138}" type="presParOf" srcId="{6C265FB6-4C82-6447-8FEC-AE36E4945F88}" destId="{4B8E8EEA-5584-1E48-B4B9-EDCFFCDE3AAA}" srcOrd="2" destOrd="0" presId="urn:microsoft.com/office/officeart/2005/8/layout/vList3"/>
    <dgm:cxn modelId="{85633223-B653-494B-AFC3-EAE06EE8EF63}" type="presParOf" srcId="{4B8E8EEA-5584-1E48-B4B9-EDCFFCDE3AAA}" destId="{D7DB2927-C180-DB47-9208-4E1FB460DED9}" srcOrd="0" destOrd="0" presId="urn:microsoft.com/office/officeart/2005/8/layout/vList3"/>
    <dgm:cxn modelId="{F4535BE7-7E9E-2B47-BDD1-51B18FA095DF}" type="presParOf" srcId="{4B8E8EEA-5584-1E48-B4B9-EDCFFCDE3AAA}" destId="{7FCE73E4-224B-4D4D-9281-C7F6815506F8}" srcOrd="1" destOrd="0" presId="urn:microsoft.com/office/officeart/2005/8/layout/vList3"/>
    <dgm:cxn modelId="{06A88F6D-CC06-524C-8D9A-CF1842B2698D}" type="presParOf" srcId="{6C265FB6-4C82-6447-8FEC-AE36E4945F88}" destId="{267376C8-FF81-EB49-8832-D7A799ABDC6E}" srcOrd="3" destOrd="0" presId="urn:microsoft.com/office/officeart/2005/8/layout/vList3"/>
    <dgm:cxn modelId="{428A4E18-43F8-9348-A866-9367E177C414}" type="presParOf" srcId="{6C265FB6-4C82-6447-8FEC-AE36E4945F88}" destId="{886450FA-7CF2-D84B-AB32-51BA281C83A6}" srcOrd="4" destOrd="0" presId="urn:microsoft.com/office/officeart/2005/8/layout/vList3"/>
    <dgm:cxn modelId="{2D20DB95-669F-9944-B404-52A492D6C8B3}" type="presParOf" srcId="{886450FA-7CF2-D84B-AB32-51BA281C83A6}" destId="{9A5B1D4D-A057-4E4E-BF37-704EC7868354}" srcOrd="0" destOrd="0" presId="urn:microsoft.com/office/officeart/2005/8/layout/vList3"/>
    <dgm:cxn modelId="{06290497-8A59-864F-90E3-1C8281142A44}" type="presParOf" srcId="{886450FA-7CF2-D84B-AB32-51BA281C83A6}" destId="{61722100-BBE7-C04F-89C3-7420FB107874}" srcOrd="1" destOrd="0" presId="urn:microsoft.com/office/officeart/2005/8/layout/vList3"/>
    <dgm:cxn modelId="{926D711F-4AB0-8545-BA0C-A2BC941CEFD7}" type="presParOf" srcId="{6C265FB6-4C82-6447-8FEC-AE36E4945F88}" destId="{AF18CFE4-2D54-5642-B9A4-0666498E6ED3}" srcOrd="5" destOrd="0" presId="urn:microsoft.com/office/officeart/2005/8/layout/vList3"/>
    <dgm:cxn modelId="{66F2931C-E77D-2246-A0B1-E392B9BA7542}" type="presParOf" srcId="{6C265FB6-4C82-6447-8FEC-AE36E4945F88}" destId="{F2DDA84C-AB02-2C4D-8865-3DD4BDC6DFDA}" srcOrd="6" destOrd="0" presId="urn:microsoft.com/office/officeart/2005/8/layout/vList3"/>
    <dgm:cxn modelId="{C52502A4-F707-1348-8903-C2FAC65BAEB5}" type="presParOf" srcId="{F2DDA84C-AB02-2C4D-8865-3DD4BDC6DFDA}" destId="{09847268-2946-1C47-BAB2-BE47353ADE0B}" srcOrd="0" destOrd="0" presId="urn:microsoft.com/office/officeart/2005/8/layout/vList3"/>
    <dgm:cxn modelId="{71A6D6DB-08C3-034A-8295-B923C0317244}" type="presParOf" srcId="{F2DDA84C-AB02-2C4D-8865-3DD4BDC6DFDA}" destId="{817B19FA-C4F5-7C4E-AB2C-C7CC3D2FBA2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D4144-70B7-934B-8D0C-E4DEAC5C384B}">
      <dsp:nvSpPr>
        <dsp:cNvPr id="0" name=""/>
        <dsp:cNvSpPr/>
      </dsp:nvSpPr>
      <dsp:spPr>
        <a:xfrm rot="10800000">
          <a:off x="1364515" y="388"/>
          <a:ext cx="4545141" cy="878745"/>
        </a:xfrm>
        <a:prstGeom prst="homePlate">
          <a:avLst/>
        </a:prstGeom>
        <a:solidFill>
          <a:srgbClr val="0E2A4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7502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Sorted all records by date. </a:t>
          </a:r>
        </a:p>
      </dsp:txBody>
      <dsp:txXfrm rot="10800000">
        <a:off x="1584201" y="388"/>
        <a:ext cx="4325455" cy="878745"/>
      </dsp:txXfrm>
    </dsp:sp>
    <dsp:sp modelId="{BA53A300-6037-734F-970C-B1351BAAC4A0}">
      <dsp:nvSpPr>
        <dsp:cNvPr id="0" name=""/>
        <dsp:cNvSpPr/>
      </dsp:nvSpPr>
      <dsp:spPr>
        <a:xfrm>
          <a:off x="925142" y="388"/>
          <a:ext cx="878745" cy="878745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CE73E4-224B-4D4D-9281-C7F6815506F8}">
      <dsp:nvSpPr>
        <dsp:cNvPr id="0" name=""/>
        <dsp:cNvSpPr/>
      </dsp:nvSpPr>
      <dsp:spPr>
        <a:xfrm rot="10800000">
          <a:off x="1364515" y="1141445"/>
          <a:ext cx="4545141" cy="878745"/>
        </a:xfrm>
        <a:prstGeom prst="homePlate">
          <a:avLst/>
        </a:prstGeom>
        <a:solidFill>
          <a:srgbClr val="4B5F7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7502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Checked for missing daily records.</a:t>
          </a:r>
        </a:p>
      </dsp:txBody>
      <dsp:txXfrm rot="10800000">
        <a:off x="1584201" y="1141445"/>
        <a:ext cx="4325455" cy="878745"/>
      </dsp:txXfrm>
    </dsp:sp>
    <dsp:sp modelId="{D7DB2927-C180-DB47-9208-4E1FB460DED9}">
      <dsp:nvSpPr>
        <dsp:cNvPr id="0" name=""/>
        <dsp:cNvSpPr/>
      </dsp:nvSpPr>
      <dsp:spPr>
        <a:xfrm>
          <a:off x="925142" y="1141445"/>
          <a:ext cx="878745" cy="878745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722100-BBE7-C04F-89C3-7420FB107874}">
      <dsp:nvSpPr>
        <dsp:cNvPr id="0" name=""/>
        <dsp:cNvSpPr/>
      </dsp:nvSpPr>
      <dsp:spPr>
        <a:xfrm rot="10800000">
          <a:off x="1364515" y="2282503"/>
          <a:ext cx="4545141" cy="878745"/>
        </a:xfrm>
        <a:prstGeom prst="homePlate">
          <a:avLst/>
        </a:prstGeom>
        <a:solidFill>
          <a:srgbClr val="0E2A4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7502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Created a continuous daily dataset.</a:t>
          </a:r>
        </a:p>
      </dsp:txBody>
      <dsp:txXfrm rot="10800000">
        <a:off x="1584201" y="2282503"/>
        <a:ext cx="4325455" cy="878745"/>
      </dsp:txXfrm>
    </dsp:sp>
    <dsp:sp modelId="{9A5B1D4D-A057-4E4E-BF37-704EC7868354}">
      <dsp:nvSpPr>
        <dsp:cNvPr id="0" name=""/>
        <dsp:cNvSpPr/>
      </dsp:nvSpPr>
      <dsp:spPr>
        <a:xfrm>
          <a:off x="925142" y="2282503"/>
          <a:ext cx="878745" cy="878745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7B19FA-C4F5-7C4E-AB2C-C7CC3D2FBA24}">
      <dsp:nvSpPr>
        <dsp:cNvPr id="0" name=""/>
        <dsp:cNvSpPr/>
      </dsp:nvSpPr>
      <dsp:spPr>
        <a:xfrm rot="10800000">
          <a:off x="1364515" y="3423561"/>
          <a:ext cx="4545141" cy="878745"/>
        </a:xfrm>
        <a:prstGeom prst="homePlate">
          <a:avLst/>
        </a:prstGeom>
        <a:solidFill>
          <a:srgbClr val="4B5F7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7502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Filled weather gaps using forward/backward fill. Interpolated AQI values if gaps existed.</a:t>
          </a:r>
        </a:p>
      </dsp:txBody>
      <dsp:txXfrm rot="10800000">
        <a:off x="1584201" y="3423561"/>
        <a:ext cx="4325455" cy="878745"/>
      </dsp:txXfrm>
    </dsp:sp>
    <dsp:sp modelId="{09847268-2946-1C47-BAB2-BE47353ADE0B}">
      <dsp:nvSpPr>
        <dsp:cNvPr id="0" name=""/>
        <dsp:cNvSpPr/>
      </dsp:nvSpPr>
      <dsp:spPr>
        <a:xfrm>
          <a:off x="925142" y="3423561"/>
          <a:ext cx="878745" cy="878745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59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2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23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ouston-aqi-predictor.streamlit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351215" y="-365760"/>
            <a:ext cx="4114800" cy="4114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-1097280" y="365760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31520" y="1097280"/>
            <a:ext cx="292608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161288"/>
            <a:ext cx="274320" cy="2743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3444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HOUSTON, TEXAS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73152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tomorrow's</a:t>
            </a:r>
            <a:endParaRPr lang="en-US" sz="4600" dirty="0"/>
          </a:p>
        </p:txBody>
      </p:sp>
      <p:sp>
        <p:nvSpPr>
          <p:cNvPr id="8" name="Text 3"/>
          <p:cNvSpPr/>
          <p:nvPr/>
        </p:nvSpPr>
        <p:spPr>
          <a:xfrm>
            <a:off x="731520" y="2606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quality.</a:t>
            </a:r>
            <a:endParaRPr lang="en-US" sz="7600" dirty="0"/>
          </a:p>
        </p:txBody>
      </p:sp>
      <p:sp>
        <p:nvSpPr>
          <p:cNvPr id="9" name="Text 4"/>
          <p:cNvSpPr/>
          <p:nvPr/>
        </p:nvSpPr>
        <p:spPr>
          <a:xfrm>
            <a:off x="731520" y="42062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project that forecasts the next-day Air Quality Index category for Houston using historical pollution and weather data.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731520" y="5577840"/>
            <a:ext cx="548640" cy="54864"/>
          </a:xfrm>
          <a:prstGeom prst="rect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73152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 ·  Multi-class classification</a:t>
            </a:r>
            <a:endParaRPr lang="en-US" sz="13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A5989C78-26C8-0448-973C-27FC7C908CB5}"/>
              </a:ext>
            </a:extLst>
          </p:cNvPr>
          <p:cNvSpPr/>
          <p:nvPr/>
        </p:nvSpPr>
        <p:spPr>
          <a:xfrm>
            <a:off x="8551911" y="1645920"/>
            <a:ext cx="3713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MSAIS 5302 - AI &amp; Machine Learning Final Presentation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9EB3C2"/>
                </a:solidFill>
                <a:latin typeface="Calibri" pitchFamily="34" charset="0"/>
                <a:cs typeface="Calibri" pitchFamily="34" charset="-120"/>
              </a:rPr>
              <a:t>Mitaali Dayal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predict tomorrow's air?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AQI is already public. Tomorrow's hasn't happened yet — and that's the number people actually need to make decisions.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448" y="3017520"/>
            <a:ext cx="2606040" cy="274320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448" y="301752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5208" y="338328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800" y="354787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5208" y="4297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75208" y="4800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my asthmatic child play outside tomorrow?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98368" y="3017520"/>
            <a:ext cx="2606040" cy="274320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98368" y="301752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764128" y="338328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720" y="354787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64128" y="4297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764128" y="4800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hold tomorrow's outdoor PE class?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87288" y="3017520"/>
            <a:ext cx="2606040" cy="274320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87288" y="301752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553048" y="338328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640" y="3547872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53048" y="4297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teams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553048" y="4800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issue a public-health advisory?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976208" y="3017520"/>
            <a:ext cx="2606040" cy="274320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976208" y="301752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341968" y="338328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6560" y="3547872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41968" y="4297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Athletes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341968" y="4800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tomorrow's morning run safe to do outside?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forecast, four different decisions. The model exists to help all of them.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NEWS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Houston's air quality keeps making headlines.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reporting on the same problem we're trying to forecast — from rankings, ozone alerts, refinery emissions, and wildfire smoke.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3708" y="2514600"/>
            <a:ext cx="3703320" cy="169164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3708" y="2514600"/>
            <a:ext cx="370332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2308" y="2679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LUNG ASSOCIATION  ·  STATE OF THE AIR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2308" y="29718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Houston metro ranked 7th most polluted U.S. city for ozone.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44188" y="2514600"/>
            <a:ext cx="3703320" cy="169164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44188" y="2514600"/>
            <a:ext cx="3703320" cy="54864"/>
          </a:xfrm>
          <a:prstGeom prst="rect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72788" y="2679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NEWSWEEK  ·  2024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72788" y="29718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Houston saw nearly 50 ozone action days in 2024.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84668" y="2514600"/>
            <a:ext cx="3703320" cy="169164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84668" y="2514600"/>
            <a:ext cx="370332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13268" y="2679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PUBLIC MEDIA  ·  AUG 2024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13268" y="29718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"Dirty Dozen" report names city's 12 worst air polluters.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3708" y="4343400"/>
            <a:ext cx="3703320" cy="169164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3708" y="4343400"/>
            <a:ext cx="3703320" cy="54864"/>
          </a:xfrm>
          <a:prstGeom prst="rect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2308" y="4507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LANDING  ·  MAY 2024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2308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Wildfire smoke from Central America blankets Houston.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44188" y="4343400"/>
            <a:ext cx="3703320" cy="169164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44188" y="4343400"/>
            <a:ext cx="370332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72788" y="4507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TRIBUNE  ·  MAR 2024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72788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monitors fail Latino communities near the Ship Channel.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84668" y="4343400"/>
            <a:ext cx="3703320" cy="169164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988" y="461772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861908" y="4617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EXISTS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358988" y="5074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has a real, recurring air quality problem. A reliable next-day forecast helps families and schools plan ahead.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categories, one prediction.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 Quality Index runs 0–500. We group the relevant range into three actionable classes.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94415" cy="96012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9728" cy="960120"/>
          </a:xfrm>
          <a:prstGeom prst="rect">
            <a:avLst/>
          </a:prstGeom>
          <a:solidFill>
            <a:srgbClr val="63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– 50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468880" y="29260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9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304495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4612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2461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is clean. Go outside, exercise, breathe deep.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886200"/>
            <a:ext cx="11094415" cy="96012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109728" cy="96012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38862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 – 100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2468880" y="40690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418795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4612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24612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for most. Some sensitive folks may notice it.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5029200"/>
            <a:ext cx="11094415" cy="96012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8640" y="5029200"/>
            <a:ext cx="109728" cy="9601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68680" y="50292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101+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2468880" y="52120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752" y="5330952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246120" y="5120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for sensitive groups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3246120" y="5532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Asthmatics, kids, elderly, people with heart conditions should reduce outdoor exertion.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frame this as multi-class classification: given today, predict which class tomorrow falls into.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public sources, six years.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 pulled directly from public APIs — no manual downloads, fully reproducible.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0888" y="2606040"/>
            <a:ext cx="5212080" cy="210312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0888" y="2606040"/>
            <a:ext cx="521208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8" y="29718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81048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81048" y="3154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EPA Air Quality System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58088" y="3794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AQI values for Harris County, TX (Houston). Includes the dominant pollutant — PM2.5, ozone, PM10, NO₂.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78728" y="2606040"/>
            <a:ext cx="5212080" cy="210312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78728" y="2606040"/>
            <a:ext cx="521208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928" y="29718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58888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558888" y="3154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Open-Meteo Archive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735928" y="3794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temperature, humidity, wind speed, and precipitation at Houston's coordinates.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on date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5440680"/>
            <a:ext cx="2773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years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48640" y="589788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daily history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22244" y="5440680"/>
            <a:ext cx="2773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2,192 days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3322244" y="589788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observations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095848" y="5440680"/>
            <a:ext cx="2773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Houston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6095848" y="589788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County, TX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869451" y="5440680"/>
            <a:ext cx="2773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domains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8869451" y="589788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+ weather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got from raw data to a forecast.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12368" y="201168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236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2288" y="2606040"/>
            <a:ext cx="1783080" cy="251460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88" y="29260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448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5168" y="4114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EPA + weather data via public APIs and merge on date.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27352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005176" y="201168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00517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365096" y="2606040"/>
            <a:ext cx="1783080" cy="251460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596" y="292608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02256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547976" y="4114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Reindex to a continuous daily series; fill any gaps carefully.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020160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4897984" y="201168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9798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257904" y="2606040"/>
            <a:ext cx="1783080" cy="251460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404" y="292608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95064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4440784" y="4114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lag, rolling, trend, weather, calendar, and pollutant features.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912968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6790792" y="201168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79079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150712" y="2606040"/>
            <a:ext cx="1783080" cy="251460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212" y="2926080"/>
            <a:ext cx="640080" cy="6400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87872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6333592" y="4114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families compared: linear, random forest, gradient boosting.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805776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8683600" y="201168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86836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8043520" y="2606040"/>
            <a:ext cx="1783080" cy="251460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5020" y="2926080"/>
            <a:ext cx="640080" cy="6400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180680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Tune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8226400" y="4114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 with time-series-aware cross-validation.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9698584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40" name="Shape 33"/>
          <p:cNvSpPr/>
          <p:nvPr/>
        </p:nvSpPr>
        <p:spPr>
          <a:xfrm>
            <a:off x="10576408" y="201168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1057640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9936328" y="2606040"/>
            <a:ext cx="1783080" cy="251460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7828" y="2926080"/>
            <a:ext cx="640080" cy="6400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073488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800" dirty="0"/>
          </a:p>
        </p:txBody>
      </p:sp>
      <p:sp>
        <p:nvSpPr>
          <p:cNvPr id="45" name="Text 37"/>
          <p:cNvSpPr/>
          <p:nvPr/>
        </p:nvSpPr>
        <p:spPr>
          <a:xfrm>
            <a:off x="10119208" y="4114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prediction function with a watch-tier safety net.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was validated honestly: time-based splits, no leakage, diagnostics before declaring success.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2BD5D665-8780-C10A-CDF4-9B16710B9F0C}"/>
              </a:ext>
            </a:extLst>
          </p:cNvPr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3600" b="1" dirty="0">
                <a:solidFill>
                  <a:srgbClr val="0F2A47"/>
                </a:solidFill>
                <a:latin typeface="Georgia" pitchFamily="34" charset="0"/>
              </a:rPr>
              <a:t>Transforming raw data into a usable format</a:t>
            </a:r>
            <a:endParaRPr lang="en-US" sz="3600" b="1" dirty="0">
              <a:solidFill>
                <a:srgbClr val="0F2A47"/>
              </a:solidFill>
              <a:latin typeface="Georgia" pitchFamily="34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C76F4BA-4CD2-59E4-4214-E0541B3606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8222803"/>
              </p:ext>
            </p:extLst>
          </p:nvPr>
        </p:nvGraphicFramePr>
        <p:xfrm>
          <a:off x="-738799" y="2006220"/>
          <a:ext cx="6834799" cy="4302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938523A-2A8D-CFD6-1842-5AA5312308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0293" y="1707925"/>
            <a:ext cx="6318952" cy="45479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B706D7-C62E-8805-CC76-052A26D5619E}"/>
              </a:ext>
            </a:extLst>
          </p:cNvPr>
          <p:cNvSpPr txBox="1"/>
          <p:nvPr/>
        </p:nvSpPr>
        <p:spPr>
          <a:xfrm>
            <a:off x="6021788" y="6292815"/>
            <a:ext cx="6114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1" i="1" dirty="0"/>
              <a:t>AQI changes over time, while temperature shows seasonal patterns. Most days are Moderate, but harmful USG+ days still appear as spikes.</a:t>
            </a:r>
            <a:endParaRPr lang="en-IN" sz="800" i="1" dirty="0"/>
          </a:p>
          <a:p>
            <a:endParaRPr lang="en-US" sz="800" i="1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9FC0AFBB-F1FC-1374-0DF3-E157AC0AB1C9}"/>
              </a:ext>
            </a:extLst>
          </p:cNvPr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51DC963C-F435-3144-AA48-9940D2164CC3}"/>
              </a:ext>
            </a:extLst>
          </p:cNvPr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2" name="Text 27">
            <a:extLst>
              <a:ext uri="{FF2B5EF4-FFF2-40B4-BE49-F238E27FC236}">
                <a16:creationId xmlns:a16="http://schemas.microsoft.com/office/drawing/2014/main" id="{3A092076-A9EE-2607-C3B2-8566D5DB27AC}"/>
              </a:ext>
            </a:extLst>
          </p:cNvPr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79702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 families, three different bets.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models with very different assumptions to see which best fits this problem.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4856" y="2468880"/>
            <a:ext cx="3657600" cy="329184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4856" y="2468880"/>
            <a:ext cx="36576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4896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4896" y="3063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4896" y="40690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7776" y="39182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decision boundaries.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4896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interpretable starting point. Fast to train and easy to reason about — perfect for setting a floor.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7048" y="2468880"/>
            <a:ext cx="3657600" cy="329184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67048" y="2468880"/>
            <a:ext cx="365760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87088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87088" y="3063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87088" y="406908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89673" y="39071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independent decision trees.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87088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nonlinear interactions automatically. Robust to noise and outliers, hard to overfit catastrophically.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89240" y="2468880"/>
            <a:ext cx="3657600" cy="329184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89240" y="2468880"/>
            <a:ext cx="36576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0928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100" dirty="0">
              <a:solidFill>
                <a:srgbClr val="1C7293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09280" y="3063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409280" y="40690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92160" y="39730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that learn from each other's mistakes.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09280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fits trees to fix prior errors. Usually the strongest performer on structured tabular data.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tells us something different — together they bracket what's actually possible on this problem.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the model see?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is to capture patterns affecting air quality</a:t>
            </a:r>
            <a:endParaRPr lang="en-US" sz="1700" i="1" dirty="0"/>
          </a:p>
        </p:txBody>
      </p:sp>
      <p:sp>
        <p:nvSpPr>
          <p:cNvPr id="6" name="Shape 4"/>
          <p:cNvSpPr/>
          <p:nvPr/>
        </p:nvSpPr>
        <p:spPr>
          <a:xfrm>
            <a:off x="655168" y="2743200"/>
            <a:ext cx="5349240" cy="178308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5168" y="2743200"/>
            <a:ext cx="73152" cy="1783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5208" y="3063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8" y="32004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25016" y="3154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20928" y="36576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2-day, and 7-day AQI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 and 7-day rolling averages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over the past week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87288" y="2743200"/>
            <a:ext cx="5349240" cy="178308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07328" y="3063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488" y="32004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84568" y="316611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553048" y="36576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Day-over-day AQI change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momentum signals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air quality rising or falling?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5168" y="4709160"/>
            <a:ext cx="5349240" cy="178308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55168" y="4709160"/>
            <a:ext cx="73152" cy="1783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75208" y="50292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368" y="51663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52448" y="5113475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1020928" y="56235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wind, rain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conditions as lags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+ still air interaction term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87288" y="4709160"/>
            <a:ext cx="5349240" cy="178308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187288" y="4709160"/>
            <a:ext cx="73152" cy="1783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507328" y="50292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488" y="516636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84568" y="51206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6553048" y="56235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week, weekend flag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month encoding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Day-of-year for seasonality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1000" dirty="0"/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6A831DBE-4516-A11B-84AD-1B41ECFF9A87}"/>
              </a:ext>
            </a:extLst>
          </p:cNvPr>
          <p:cNvSpPr/>
          <p:nvPr/>
        </p:nvSpPr>
        <p:spPr>
          <a:xfrm>
            <a:off x="6187288" y="2743200"/>
            <a:ext cx="73152" cy="1783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8A8A236D-D014-A9F6-9188-76A732A8A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776" y="32232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RESULTS AND INSIGHTS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models with very different assumptions to see which best fits this problem.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4856" y="2468880"/>
            <a:ext cx="3425395" cy="306005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4856" y="2466032"/>
            <a:ext cx="3425395" cy="4571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4896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4896" y="3063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4896" y="3634740"/>
            <a:ext cx="3017520" cy="188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i="1" dirty="0"/>
              <a:t>Random Forest performed best </a:t>
            </a:r>
          </a:p>
          <a:p>
            <a:r>
              <a:rPr lang="en-IN" sz="1200" dirty="0"/>
              <a:t>Accuracy ≈ 72–74% </a:t>
            </a:r>
          </a:p>
          <a:p>
            <a:r>
              <a:rPr lang="en-IN" sz="1200" dirty="0"/>
              <a:t>Macro F1 ≈ 0.52 </a:t>
            </a:r>
            <a:br>
              <a:rPr lang="en-IN" sz="1200" dirty="0"/>
            </a:br>
            <a:endParaRPr lang="en-IN" sz="1200" dirty="0"/>
          </a:p>
          <a:p>
            <a:r>
              <a:rPr lang="en-IN" sz="1200" b="1" dirty="0"/>
              <a:t>Key Insights:</a:t>
            </a:r>
            <a:endParaRPr lang="en-IN" sz="1200" dirty="0"/>
          </a:p>
          <a:p>
            <a:r>
              <a:rPr lang="en-IN" sz="1200" dirty="0"/>
              <a:t>Model predicts “Moderate” very well </a:t>
            </a:r>
          </a:p>
          <a:p>
            <a:r>
              <a:rPr lang="en-IN" sz="1200" dirty="0"/>
              <a:t>Struggles with USG+ (harmful days) </a:t>
            </a:r>
          </a:p>
          <a:p>
            <a:r>
              <a:rPr lang="en-IN" sz="1200" dirty="0"/>
              <a:t>Accuracy alone is misleading due to class imbalance</a:t>
            </a:r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F182C36-78D2-BD1B-CFF1-C70DFEC01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321" y="3090067"/>
            <a:ext cx="3005907" cy="2606039"/>
          </a:xfrm>
          <a:prstGeom prst="rect">
            <a:avLst/>
          </a:prstGeom>
        </p:spPr>
      </p:pic>
      <p:sp>
        <p:nvSpPr>
          <p:cNvPr id="31" name="Shape 4">
            <a:extLst>
              <a:ext uri="{FF2B5EF4-FFF2-40B4-BE49-F238E27FC236}">
                <a16:creationId xmlns:a16="http://schemas.microsoft.com/office/drawing/2014/main" id="{750DF9AB-4814-4030-C465-FCD2F87779BE}"/>
              </a:ext>
            </a:extLst>
          </p:cNvPr>
          <p:cNvSpPr/>
          <p:nvPr/>
        </p:nvSpPr>
        <p:spPr>
          <a:xfrm>
            <a:off x="8074379" y="456399"/>
            <a:ext cx="3538501" cy="306005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C74C6F34-43B0-4875-F56C-2FAC793BA5DD}"/>
              </a:ext>
            </a:extLst>
          </p:cNvPr>
          <p:cNvSpPr/>
          <p:nvPr/>
        </p:nvSpPr>
        <p:spPr>
          <a:xfrm>
            <a:off x="8240636" y="873195"/>
            <a:ext cx="3017520" cy="188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 dirty="0"/>
              <a:t>Model Improvements:</a:t>
            </a:r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Hyperparameter tuning improved Macro F1 to ~ 0.57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Better detection of USG+ (harmful days)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Slight drop in overall accuracy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Used regularized RF + threshold tuning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Balanced accuracy and risk detection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2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44A20FC-B980-ACA3-3839-07FB7A66E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132" y="3835098"/>
            <a:ext cx="3966528" cy="175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27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/>
              </a:rPr>
              <a:t>Interactive </a:t>
            </a:r>
            <a:r>
              <a:rPr lang="en-US" sz="3200" b="1" dirty="0" err="1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/>
              </a:rPr>
              <a:t>Streamlit</a:t>
            </a: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/>
              </a:rPr>
              <a:t> Dashboard</a:t>
            </a:r>
            <a:endParaRPr lang="en-US" sz="3200" dirty="0"/>
          </a:p>
        </p:txBody>
      </p:sp>
      <p:sp>
        <p:nvSpPr>
          <p:cNvPr id="31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100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551914A8-1A96-9861-CA07-D4A7C3A59F8E}"/>
              </a:ext>
            </a:extLst>
          </p:cNvPr>
          <p:cNvSpPr/>
          <p:nvPr/>
        </p:nvSpPr>
        <p:spPr>
          <a:xfrm>
            <a:off x="2239617" y="5943600"/>
            <a:ext cx="87596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7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Provides an intuitive interface for users to explore air quality predictions and risk levels.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0A2F095-57B2-7311-DDF0-06AC7716F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895" y="1992928"/>
            <a:ext cx="7248939" cy="39506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BETTER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Considerations &amp; Model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515600" cy="4046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Wingdings" pitchFamily="2" charset="2"/>
              <a:buChar char="Ø"/>
            </a:pPr>
            <a:r>
              <a:rPr lang="en-IN" sz="2000" dirty="0"/>
              <a:t>Real-world data is naturally imbalanced</a:t>
            </a:r>
            <a:br>
              <a:rPr lang="en-IN" sz="2000" dirty="0"/>
            </a:br>
            <a:r>
              <a:rPr lang="en-IN" sz="2000" i="1" dirty="0"/>
              <a:t>Most days are “Moderate,” fewer harmful days 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/>
              <a:t>Model focuses on detecting critical USG+ cases</a:t>
            </a:r>
            <a:br>
              <a:rPr lang="en-IN" sz="2000" dirty="0"/>
            </a:br>
            <a:r>
              <a:rPr lang="en-IN" sz="2000" i="1" dirty="0"/>
              <a:t>Prioritizing safety over perfect accuracy 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/>
              <a:t>Accuracy alone is not sufficient</a:t>
            </a:r>
            <a:br>
              <a:rPr lang="en-IN" sz="2000" dirty="0"/>
            </a:br>
            <a:r>
              <a:rPr lang="en-IN" sz="2000" i="1" dirty="0"/>
              <a:t>Used Macro F1 and recall for better evaluation 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/>
              <a:t>Balanced performance achieved through tuning</a:t>
            </a:r>
            <a:br>
              <a:rPr lang="en-IN" sz="2000" dirty="0"/>
            </a:br>
            <a:r>
              <a:rPr lang="en-IN" sz="2000" i="1" dirty="0" err="1"/>
              <a:t>Tradeoff</a:t>
            </a:r>
            <a:r>
              <a:rPr lang="en-IN" sz="2000" i="1" dirty="0"/>
              <a:t> between overall accuracy and risk detection </a:t>
            </a:r>
          </a:p>
        </p:txBody>
      </p:sp>
      <p:sp>
        <p:nvSpPr>
          <p:cNvPr id="31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551914A8-1A96-9861-CA07-D4A7C3A59F8E}"/>
              </a:ext>
            </a:extLst>
          </p:cNvPr>
          <p:cNvSpPr/>
          <p:nvPr/>
        </p:nvSpPr>
        <p:spPr>
          <a:xfrm>
            <a:off x="2504660" y="5623560"/>
            <a:ext cx="8468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is to </a:t>
            </a:r>
            <a:r>
              <a:rPr lang="en-US" sz="17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b</a:t>
            </a:r>
            <a:r>
              <a:rPr lang="en-IN" sz="17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uild</a:t>
            </a:r>
            <a:r>
              <a:rPr lang="en-IN" sz="17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a model that is reliable for real-world decision making</a:t>
            </a:r>
            <a:endParaRPr lang="en-US" sz="1700" i="1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824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/>
          <p:cNvSpPr/>
          <p:nvPr/>
        </p:nvSpPr>
        <p:spPr>
          <a:xfrm>
            <a:off x="548640" y="410817"/>
            <a:ext cx="10972800" cy="594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AQI Forecast  ·  Next-day classifier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1142</Words>
  <Application>Microsoft Macintosh PowerPoint</Application>
  <PresentationFormat>Widescreen</PresentationFormat>
  <Paragraphs>200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Next-Day Air Quality in Houston</dc:title>
  <dc:subject>PptxGenJS Presentation</dc:subject>
  <dc:creator>Houston AQI Project</dc:creator>
  <cp:lastModifiedBy>Mitaali Dayal</cp:lastModifiedBy>
  <cp:revision>5</cp:revision>
  <dcterms:created xsi:type="dcterms:W3CDTF">2026-05-05T16:21:21Z</dcterms:created>
  <dcterms:modified xsi:type="dcterms:W3CDTF">2026-05-05T19:42:22Z</dcterms:modified>
</cp:coreProperties>
</file>